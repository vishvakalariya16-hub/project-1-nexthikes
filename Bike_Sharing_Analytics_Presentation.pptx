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3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4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5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DD8F5"/>
    <a:srgbClr val="EBF3F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65" d="100"/>
          <a:sy n="65" d="100"/>
        </p:scale>
        <p:origin x="700" y="4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DELL\Desktop\project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1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Rentals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Registered</c:v>
                </c:pt>
                <c:pt idx="1">
                  <c:v>Casual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53383</c:v>
                </c:pt>
                <c:pt idx="1">
                  <c:v>4921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4C0-4E35-BDA0-3DFE160F6ED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Total rentals</c:v>
                </c:pt>
              </c:strCache>
            </c:strRef>
          </c:tx>
          <c:invertIfNegative val="1"/>
          <c:dPt>
            <c:idx val="0"/>
            <c:invertIfNegative val="1"/>
            <c:bubble3D val="0"/>
            <c:spPr>
              <a:solidFill>
                <a:schemeClr val="accent1">
                  <a:alpha val="85000"/>
                </a:schemeClr>
              </a:solidFill>
              <a:ln w="9525" cap="flat" cmpd="sng" algn="ctr">
                <a:solidFill>
                  <a:schemeClr val="lt1">
                    <a:alpha val="50000"/>
                  </a:schemeClr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1-C916-4800-9F13-51507A40455A}"/>
              </c:ext>
            </c:extLst>
          </c:dPt>
          <c:dPt>
            <c:idx val="1"/>
            <c:invertIfNegative val="1"/>
            <c:bubble3D val="0"/>
            <c:spPr>
              <a:solidFill>
                <a:schemeClr val="accent2">
                  <a:alpha val="85000"/>
                </a:schemeClr>
              </a:solidFill>
              <a:ln w="9525" cap="flat" cmpd="sng" algn="ctr">
                <a:solidFill>
                  <a:schemeClr val="lt1">
                    <a:alpha val="50000"/>
                  </a:schemeClr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3-C916-4800-9F13-51507A40455A}"/>
              </c:ext>
            </c:extLst>
          </c:dPt>
          <c:dPt>
            <c:idx val="2"/>
            <c:invertIfNegative val="1"/>
            <c:bubble3D val="0"/>
            <c:spPr>
              <a:solidFill>
                <a:schemeClr val="accent3">
                  <a:alpha val="85000"/>
                </a:schemeClr>
              </a:solidFill>
              <a:ln w="9525" cap="flat" cmpd="sng" algn="ctr">
                <a:solidFill>
                  <a:schemeClr val="lt1">
                    <a:alpha val="50000"/>
                  </a:schemeClr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5-C916-4800-9F13-51507A40455A}"/>
              </c:ext>
            </c:extLst>
          </c:dPt>
          <c:dPt>
            <c:idx val="3"/>
            <c:invertIfNegative val="1"/>
            <c:bubble3D val="0"/>
            <c:spPr>
              <a:solidFill>
                <a:schemeClr val="accent4">
                  <a:alpha val="85000"/>
                </a:schemeClr>
              </a:solidFill>
              <a:ln w="9525" cap="flat" cmpd="sng" algn="ctr">
                <a:solidFill>
                  <a:schemeClr val="lt1">
                    <a:alpha val="50000"/>
                  </a:schemeClr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7-C916-4800-9F13-51507A40455A}"/>
              </c:ext>
            </c:extLst>
          </c:dPt>
          <c:dPt>
            <c:idx val="4"/>
            <c:invertIfNegative val="1"/>
            <c:bubble3D val="0"/>
            <c:spPr>
              <a:solidFill>
                <a:schemeClr val="accent5">
                  <a:alpha val="85000"/>
                </a:schemeClr>
              </a:solidFill>
              <a:ln w="9525" cap="flat" cmpd="sng" algn="ctr">
                <a:solidFill>
                  <a:schemeClr val="lt1">
                    <a:alpha val="50000"/>
                  </a:schemeClr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9-C916-4800-9F13-51507A40455A}"/>
              </c:ext>
            </c:extLst>
          </c:dPt>
          <c:dPt>
            <c:idx val="5"/>
            <c:invertIfNegative val="1"/>
            <c:bubble3D val="0"/>
            <c:spPr>
              <a:solidFill>
                <a:schemeClr val="accent6">
                  <a:alpha val="85000"/>
                </a:schemeClr>
              </a:solidFill>
              <a:ln w="9525" cap="flat" cmpd="sng" algn="ctr">
                <a:solidFill>
                  <a:schemeClr val="lt1">
                    <a:alpha val="50000"/>
                  </a:schemeClr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B-C916-4800-9F13-51507A40455A}"/>
              </c:ext>
            </c:extLst>
          </c:dPt>
          <c:dPt>
            <c:idx val="6"/>
            <c:invertIfNegative val="1"/>
            <c:bubble3D val="0"/>
            <c:spPr>
              <a:solidFill>
                <a:schemeClr val="accent1">
                  <a:lumMod val="60000"/>
                  <a:alpha val="85000"/>
                </a:schemeClr>
              </a:solidFill>
              <a:ln w="9525" cap="flat" cmpd="sng" algn="ctr">
                <a:solidFill>
                  <a:schemeClr val="lt1">
                    <a:alpha val="50000"/>
                  </a:schemeClr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D-C916-4800-9F13-51507A40455A}"/>
              </c:ext>
            </c:extLst>
          </c:dPt>
          <c:dPt>
            <c:idx val="7"/>
            <c:invertIfNegative val="1"/>
            <c:bubble3D val="0"/>
            <c:spPr>
              <a:solidFill>
                <a:schemeClr val="accent2">
                  <a:lumMod val="60000"/>
                  <a:alpha val="85000"/>
                </a:schemeClr>
              </a:solidFill>
              <a:ln w="9525" cap="flat" cmpd="sng" algn="ctr">
                <a:solidFill>
                  <a:schemeClr val="lt1">
                    <a:alpha val="50000"/>
                  </a:schemeClr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F-C916-4800-9F13-51507A40455A}"/>
              </c:ext>
            </c:extLst>
          </c:dPt>
          <c:dPt>
            <c:idx val="8"/>
            <c:invertIfNegative val="1"/>
            <c:bubble3D val="0"/>
            <c:spPr>
              <a:solidFill>
                <a:schemeClr val="accent3">
                  <a:lumMod val="60000"/>
                  <a:alpha val="85000"/>
                </a:schemeClr>
              </a:solidFill>
              <a:ln w="9525" cap="flat" cmpd="sng" algn="ctr">
                <a:solidFill>
                  <a:schemeClr val="lt1">
                    <a:alpha val="50000"/>
                  </a:schemeClr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11-C916-4800-9F13-51507A40455A}"/>
              </c:ext>
            </c:extLst>
          </c:dPt>
          <c:dPt>
            <c:idx val="9"/>
            <c:invertIfNegative val="1"/>
            <c:bubble3D val="0"/>
            <c:spPr>
              <a:solidFill>
                <a:schemeClr val="accent4">
                  <a:lumMod val="60000"/>
                  <a:alpha val="85000"/>
                </a:schemeClr>
              </a:solidFill>
              <a:ln w="9525" cap="flat" cmpd="sng" algn="ctr">
                <a:solidFill>
                  <a:schemeClr val="lt1">
                    <a:alpha val="50000"/>
                  </a:schemeClr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13-C916-4800-9F13-51507A40455A}"/>
              </c:ext>
            </c:extLst>
          </c:dPt>
          <c:dPt>
            <c:idx val="10"/>
            <c:invertIfNegative val="1"/>
            <c:bubble3D val="0"/>
            <c:spPr>
              <a:solidFill>
                <a:schemeClr val="accent5">
                  <a:lumMod val="60000"/>
                  <a:alpha val="85000"/>
                </a:schemeClr>
              </a:solidFill>
              <a:ln w="9525" cap="flat" cmpd="sng" algn="ctr">
                <a:solidFill>
                  <a:schemeClr val="lt1">
                    <a:alpha val="50000"/>
                  </a:schemeClr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15-C916-4800-9F13-51507A40455A}"/>
              </c:ext>
            </c:extLst>
          </c:dPt>
          <c:dPt>
            <c:idx val="11"/>
            <c:invertIfNegative val="1"/>
            <c:bubble3D val="0"/>
            <c:spPr>
              <a:solidFill>
                <a:schemeClr val="accent6">
                  <a:lumMod val="60000"/>
                  <a:alpha val="85000"/>
                </a:schemeClr>
              </a:solidFill>
              <a:ln w="9525" cap="flat" cmpd="sng" algn="ctr">
                <a:solidFill>
                  <a:schemeClr val="lt1">
                    <a:alpha val="50000"/>
                  </a:schemeClr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17-C916-4800-9F13-51507A40455A}"/>
              </c:ext>
            </c:extLst>
          </c:dPt>
          <c:dPt>
            <c:idx val="12"/>
            <c:invertIfNegative val="1"/>
            <c:bubble3D val="0"/>
            <c:spPr>
              <a:solidFill>
                <a:schemeClr val="accent1">
                  <a:lumMod val="80000"/>
                  <a:lumOff val="20000"/>
                  <a:alpha val="85000"/>
                </a:schemeClr>
              </a:solidFill>
              <a:ln w="9525" cap="flat" cmpd="sng" algn="ctr">
                <a:solidFill>
                  <a:schemeClr val="lt1">
                    <a:alpha val="50000"/>
                  </a:schemeClr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19-C916-4800-9F13-51507A40455A}"/>
              </c:ext>
            </c:extLst>
          </c:dPt>
          <c:dPt>
            <c:idx val="13"/>
            <c:invertIfNegative val="1"/>
            <c:bubble3D val="0"/>
            <c:spPr>
              <a:solidFill>
                <a:schemeClr val="accent2">
                  <a:lumMod val="80000"/>
                  <a:lumOff val="20000"/>
                  <a:alpha val="85000"/>
                </a:schemeClr>
              </a:solidFill>
              <a:ln w="9525" cap="flat" cmpd="sng" algn="ctr">
                <a:solidFill>
                  <a:schemeClr val="lt1">
                    <a:alpha val="50000"/>
                  </a:schemeClr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1B-C916-4800-9F13-51507A40455A}"/>
              </c:ext>
            </c:extLst>
          </c:dPt>
          <c:dPt>
            <c:idx val="14"/>
            <c:invertIfNegative val="1"/>
            <c:bubble3D val="0"/>
            <c:spPr>
              <a:solidFill>
                <a:schemeClr val="accent3">
                  <a:lumMod val="80000"/>
                  <a:lumOff val="20000"/>
                  <a:alpha val="85000"/>
                </a:schemeClr>
              </a:solidFill>
              <a:ln w="9525" cap="flat" cmpd="sng" algn="ctr">
                <a:solidFill>
                  <a:schemeClr val="lt1">
                    <a:alpha val="50000"/>
                  </a:schemeClr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1D-C916-4800-9F13-51507A40455A}"/>
              </c:ext>
            </c:extLst>
          </c:dPt>
          <c:dPt>
            <c:idx val="15"/>
            <c:invertIfNegative val="1"/>
            <c:bubble3D val="0"/>
            <c:spPr>
              <a:solidFill>
                <a:schemeClr val="accent4">
                  <a:lumMod val="80000"/>
                  <a:lumOff val="20000"/>
                  <a:alpha val="85000"/>
                </a:schemeClr>
              </a:solidFill>
              <a:ln w="9525" cap="flat" cmpd="sng" algn="ctr">
                <a:solidFill>
                  <a:schemeClr val="lt1">
                    <a:alpha val="50000"/>
                  </a:schemeClr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1F-C916-4800-9F13-51507A40455A}"/>
              </c:ext>
            </c:extLst>
          </c:dPt>
          <c:dPt>
            <c:idx val="16"/>
            <c:invertIfNegative val="1"/>
            <c:bubble3D val="0"/>
            <c:spPr>
              <a:solidFill>
                <a:schemeClr val="accent5">
                  <a:lumMod val="80000"/>
                  <a:lumOff val="20000"/>
                  <a:alpha val="85000"/>
                </a:schemeClr>
              </a:solidFill>
              <a:ln w="9525" cap="flat" cmpd="sng" algn="ctr">
                <a:solidFill>
                  <a:schemeClr val="lt1">
                    <a:alpha val="50000"/>
                  </a:schemeClr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21-C916-4800-9F13-51507A40455A}"/>
              </c:ext>
            </c:extLst>
          </c:dPt>
          <c:dPt>
            <c:idx val="17"/>
            <c:invertIfNegative val="1"/>
            <c:bubble3D val="0"/>
            <c:spPr>
              <a:solidFill>
                <a:schemeClr val="accent6">
                  <a:lumMod val="80000"/>
                  <a:lumOff val="20000"/>
                  <a:alpha val="85000"/>
                </a:schemeClr>
              </a:solidFill>
              <a:ln w="9525" cap="flat" cmpd="sng" algn="ctr">
                <a:solidFill>
                  <a:schemeClr val="lt1">
                    <a:alpha val="50000"/>
                  </a:schemeClr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23-C916-4800-9F13-51507A40455A}"/>
              </c:ext>
            </c:extLst>
          </c:dPt>
          <c:dPt>
            <c:idx val="18"/>
            <c:invertIfNegative val="1"/>
            <c:bubble3D val="0"/>
            <c:spPr>
              <a:solidFill>
                <a:schemeClr val="accent1">
                  <a:lumMod val="80000"/>
                  <a:alpha val="85000"/>
                </a:schemeClr>
              </a:solidFill>
              <a:ln w="9525" cap="flat" cmpd="sng" algn="ctr">
                <a:solidFill>
                  <a:schemeClr val="lt1">
                    <a:alpha val="50000"/>
                  </a:schemeClr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25-C916-4800-9F13-51507A40455A}"/>
              </c:ext>
            </c:extLst>
          </c:dPt>
          <c:dPt>
            <c:idx val="19"/>
            <c:invertIfNegative val="1"/>
            <c:bubble3D val="0"/>
            <c:spPr>
              <a:solidFill>
                <a:schemeClr val="accent2">
                  <a:lumMod val="80000"/>
                  <a:alpha val="85000"/>
                </a:schemeClr>
              </a:solidFill>
              <a:ln w="9525" cap="flat" cmpd="sng" algn="ctr">
                <a:solidFill>
                  <a:schemeClr val="lt1">
                    <a:alpha val="50000"/>
                  </a:schemeClr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27-C916-4800-9F13-51507A40455A}"/>
              </c:ext>
            </c:extLst>
          </c:dPt>
          <c:dPt>
            <c:idx val="20"/>
            <c:invertIfNegative val="1"/>
            <c:bubble3D val="0"/>
            <c:spPr>
              <a:solidFill>
                <a:schemeClr val="accent3">
                  <a:lumMod val="80000"/>
                  <a:alpha val="85000"/>
                </a:schemeClr>
              </a:solidFill>
              <a:ln w="9525" cap="flat" cmpd="sng" algn="ctr">
                <a:solidFill>
                  <a:schemeClr val="lt1">
                    <a:alpha val="50000"/>
                  </a:schemeClr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29-C916-4800-9F13-51507A40455A}"/>
              </c:ext>
            </c:extLst>
          </c:dPt>
          <c:dPt>
            <c:idx val="21"/>
            <c:invertIfNegative val="1"/>
            <c:bubble3D val="0"/>
            <c:spPr>
              <a:solidFill>
                <a:schemeClr val="accent4">
                  <a:lumMod val="80000"/>
                  <a:alpha val="85000"/>
                </a:schemeClr>
              </a:solidFill>
              <a:ln w="9525" cap="flat" cmpd="sng" algn="ctr">
                <a:solidFill>
                  <a:schemeClr val="lt1">
                    <a:alpha val="50000"/>
                  </a:schemeClr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2B-C916-4800-9F13-51507A40455A}"/>
              </c:ext>
            </c:extLst>
          </c:dPt>
          <c:dPt>
            <c:idx val="22"/>
            <c:invertIfNegative val="1"/>
            <c:bubble3D val="0"/>
            <c:spPr>
              <a:solidFill>
                <a:schemeClr val="accent5">
                  <a:lumMod val="80000"/>
                  <a:alpha val="85000"/>
                </a:schemeClr>
              </a:solidFill>
              <a:ln w="9525" cap="flat" cmpd="sng" algn="ctr">
                <a:solidFill>
                  <a:schemeClr val="lt1">
                    <a:alpha val="50000"/>
                  </a:schemeClr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2D-C916-4800-9F13-51507A40455A}"/>
              </c:ext>
            </c:extLst>
          </c:dPt>
          <c:dPt>
            <c:idx val="23"/>
            <c:invertIfNegative val="1"/>
            <c:bubble3D val="0"/>
            <c:spPr>
              <a:solidFill>
                <a:schemeClr val="accent6">
                  <a:lumMod val="80000"/>
                  <a:alpha val="85000"/>
                </a:schemeClr>
              </a:solidFill>
              <a:ln w="9525" cap="flat" cmpd="sng" algn="ctr">
                <a:solidFill>
                  <a:schemeClr val="lt1">
                    <a:alpha val="50000"/>
                  </a:schemeClr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2F-C916-4800-9F13-51507A40455A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Sheet1!$A$2:$A$25</c:f>
              <c:strCache>
                <c:ptCount val="24"/>
                <c:pt idx="0">
                  <c:v>00:00</c:v>
                </c:pt>
                <c:pt idx="1">
                  <c:v>01:00</c:v>
                </c:pt>
                <c:pt idx="2">
                  <c:v>02:00</c:v>
                </c:pt>
                <c:pt idx="3">
                  <c:v>03:00</c:v>
                </c:pt>
                <c:pt idx="4">
                  <c:v>04:00</c:v>
                </c:pt>
                <c:pt idx="5">
                  <c:v>05:00</c:v>
                </c:pt>
                <c:pt idx="6">
                  <c:v>06:00</c:v>
                </c:pt>
                <c:pt idx="7">
                  <c:v>07:00</c:v>
                </c:pt>
                <c:pt idx="8">
                  <c:v>08:00</c:v>
                </c:pt>
                <c:pt idx="9">
                  <c:v>09:00</c:v>
                </c:pt>
                <c:pt idx="10">
                  <c:v>10:00</c:v>
                </c:pt>
                <c:pt idx="11">
                  <c:v>11:00</c:v>
                </c:pt>
                <c:pt idx="12">
                  <c:v>12:00</c:v>
                </c:pt>
                <c:pt idx="13">
                  <c:v>13:00</c:v>
                </c:pt>
                <c:pt idx="14">
                  <c:v>14:00</c:v>
                </c:pt>
                <c:pt idx="15">
                  <c:v>15:00</c:v>
                </c:pt>
                <c:pt idx="16">
                  <c:v>16:00</c:v>
                </c:pt>
                <c:pt idx="17">
                  <c:v>17:00</c:v>
                </c:pt>
                <c:pt idx="18">
                  <c:v>18:00</c:v>
                </c:pt>
                <c:pt idx="19">
                  <c:v>19:00</c:v>
                </c:pt>
                <c:pt idx="20">
                  <c:v>20:00</c:v>
                </c:pt>
                <c:pt idx="21">
                  <c:v>21:00</c:v>
                </c:pt>
                <c:pt idx="22">
                  <c:v>22:00</c:v>
                </c:pt>
                <c:pt idx="23">
                  <c:v>23:00</c:v>
                </c:pt>
              </c:strCache>
            </c:strRef>
          </c:cat>
          <c:val>
            <c:numRef>
              <c:f>Sheet1!$B$2:$B$25</c:f>
              <c:numCache>
                <c:formatCode>General</c:formatCode>
                <c:ptCount val="24"/>
                <c:pt idx="0">
                  <c:v>703</c:v>
                </c:pt>
                <c:pt idx="1">
                  <c:v>460</c:v>
                </c:pt>
                <c:pt idx="2">
                  <c:v>294</c:v>
                </c:pt>
                <c:pt idx="3">
                  <c:v>151</c:v>
                </c:pt>
                <c:pt idx="4">
                  <c:v>69</c:v>
                </c:pt>
                <c:pt idx="5">
                  <c:v>164</c:v>
                </c:pt>
                <c:pt idx="6">
                  <c:v>822</c:v>
                </c:pt>
                <c:pt idx="7">
                  <c:v>2339</c:v>
                </c:pt>
                <c:pt idx="8">
                  <c:v>5388</c:v>
                </c:pt>
                <c:pt idx="9">
                  <c:v>3672</c:v>
                </c:pt>
                <c:pt idx="10">
                  <c:v>2253</c:v>
                </c:pt>
                <c:pt idx="11">
                  <c:v>2494</c:v>
                </c:pt>
                <c:pt idx="12">
                  <c:v>3283</c:v>
                </c:pt>
                <c:pt idx="13">
                  <c:v>3376</c:v>
                </c:pt>
                <c:pt idx="14">
                  <c:v>3200</c:v>
                </c:pt>
                <c:pt idx="15">
                  <c:v>3352</c:v>
                </c:pt>
                <c:pt idx="16">
                  <c:v>3928</c:v>
                </c:pt>
                <c:pt idx="17">
                  <c:v>6169</c:v>
                </c:pt>
                <c:pt idx="18">
                  <c:v>5283</c:v>
                </c:pt>
                <c:pt idx="19">
                  <c:v>3661</c:v>
                </c:pt>
                <c:pt idx="20">
                  <c:v>2656</c:v>
                </c:pt>
                <c:pt idx="21">
                  <c:v>1996</c:v>
                </c:pt>
                <c:pt idx="22">
                  <c:v>1508</c:v>
                </c:pt>
                <c:pt idx="23">
                  <c:v>1083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2D9-4143-A03A-5E3A72A24381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6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noFill/>
          <a:ln w="19050" cap="flat" cmpd="sng" algn="ctr">
            <a:solidFill>
              <a:schemeClr val="dk1">
                <a:lumMod val="75000"/>
                <a:lumOff val="2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cap="all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1"/>
        <c:axPos val="l"/>
        <c:majorGridlines>
          <c:spPr>
            <a:ln w="9525" cap="flat" cmpd="sng" algn="ctr">
              <a:gradFill>
                <a:gsLst>
                  <a:gs pos="100000">
                    <a:schemeClr val="dk1">
                      <a:lumMod val="95000"/>
                      <a:lumOff val="5000"/>
                      <a:alpha val="42000"/>
                    </a:schemeClr>
                  </a:gs>
                  <a:gs pos="0">
                    <a:schemeClr val="lt1">
                      <a:lumMod val="75000"/>
                      <a:alpha val="36000"/>
                    </a:schemeClr>
                  </a:gs>
                </a:gsLst>
                <a:lin ang="5400000" scaled="0"/>
              </a:gra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-206802733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1"/>
  </c:chart>
  <c:spPr>
    <a:gradFill flip="none" rotWithShape="1">
      <a:gsLst>
        <a:gs pos="0">
          <a:schemeClr val="lt1"/>
        </a:gs>
        <a:gs pos="39000">
          <a:schemeClr val="lt1"/>
        </a:gs>
        <a:gs pos="100000">
          <a:schemeClr val="lt1">
            <a:lumMod val="75000"/>
          </a:schemeClr>
        </a:gs>
      </a:gsLst>
      <a:path path="circle">
        <a:fillToRect l="50000" t="-80000" r="50000" b="180000"/>
      </a:path>
      <a:tileRect/>
    </a:gradFill>
    <a:ln w="9525" cap="flat" cmpd="sng" algn="ctr">
      <a:solidFill>
        <a:schemeClr val="dk1">
          <a:lumMod val="25000"/>
          <a:lumOff val="7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6.3736837112228439E-2"/>
          <c:y val="4.9019607843137254E-2"/>
          <c:w val="0.92622300224520127"/>
          <c:h val="0.85234213370387524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Daily rentals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Sheet1!$A$2:$A$31</c:f>
              <c:strCache>
                <c:ptCount val="30"/>
                <c:pt idx="0">
                  <c:v>01 Jan</c:v>
                </c:pt>
                <c:pt idx="1">
                  <c:v>02 Jan</c:v>
                </c:pt>
                <c:pt idx="2">
                  <c:v>03 Jan</c:v>
                </c:pt>
                <c:pt idx="3">
                  <c:v>04 Jan</c:v>
                </c:pt>
                <c:pt idx="4">
                  <c:v>05 Jan</c:v>
                </c:pt>
                <c:pt idx="5">
                  <c:v>06 Jan</c:v>
                </c:pt>
                <c:pt idx="6">
                  <c:v>07 Jan</c:v>
                </c:pt>
                <c:pt idx="7">
                  <c:v>08 Jan</c:v>
                </c:pt>
                <c:pt idx="8">
                  <c:v>09 Jan</c:v>
                </c:pt>
                <c:pt idx="9">
                  <c:v>10 Jan</c:v>
                </c:pt>
                <c:pt idx="10">
                  <c:v>11 Jan</c:v>
                </c:pt>
                <c:pt idx="11">
                  <c:v>12 Jan</c:v>
                </c:pt>
                <c:pt idx="12">
                  <c:v>13 Jan</c:v>
                </c:pt>
                <c:pt idx="13">
                  <c:v>14 Jan</c:v>
                </c:pt>
                <c:pt idx="14">
                  <c:v>15 Jan</c:v>
                </c:pt>
                <c:pt idx="15">
                  <c:v>16 Jan</c:v>
                </c:pt>
                <c:pt idx="16">
                  <c:v>17 Jan</c:v>
                </c:pt>
                <c:pt idx="17">
                  <c:v>18 Jan</c:v>
                </c:pt>
                <c:pt idx="18">
                  <c:v>19 Jan</c:v>
                </c:pt>
                <c:pt idx="19">
                  <c:v>20 Jan</c:v>
                </c:pt>
                <c:pt idx="20">
                  <c:v>21 Jan</c:v>
                </c:pt>
                <c:pt idx="21">
                  <c:v>22 Jan</c:v>
                </c:pt>
                <c:pt idx="22">
                  <c:v>23 Jan</c:v>
                </c:pt>
                <c:pt idx="23">
                  <c:v>24 Jan</c:v>
                </c:pt>
                <c:pt idx="24">
                  <c:v>25 Jan</c:v>
                </c:pt>
                <c:pt idx="25">
                  <c:v>26 Jan</c:v>
                </c:pt>
                <c:pt idx="26">
                  <c:v>27 Jan</c:v>
                </c:pt>
                <c:pt idx="27">
                  <c:v>28 Jan</c:v>
                </c:pt>
                <c:pt idx="28">
                  <c:v>29 Jan</c:v>
                </c:pt>
                <c:pt idx="29">
                  <c:v>30 Jan</c:v>
                </c:pt>
              </c:strCache>
            </c:strRef>
          </c:cat>
          <c:val>
            <c:numRef>
              <c:f>Sheet1!$B$2:$B$31</c:f>
              <c:numCache>
                <c:formatCode>General</c:formatCode>
                <c:ptCount val="30"/>
                <c:pt idx="0">
                  <c:v>985</c:v>
                </c:pt>
                <c:pt idx="1">
                  <c:v>801</c:v>
                </c:pt>
                <c:pt idx="2">
                  <c:v>1349</c:v>
                </c:pt>
                <c:pt idx="3">
                  <c:v>1562</c:v>
                </c:pt>
                <c:pt idx="4">
                  <c:v>1600</c:v>
                </c:pt>
                <c:pt idx="5">
                  <c:v>1606</c:v>
                </c:pt>
                <c:pt idx="6">
                  <c:v>1510</c:v>
                </c:pt>
                <c:pt idx="7">
                  <c:v>959</c:v>
                </c:pt>
                <c:pt idx="8">
                  <c:v>822</c:v>
                </c:pt>
                <c:pt idx="9">
                  <c:v>1321</c:v>
                </c:pt>
                <c:pt idx="10">
                  <c:v>1263</c:v>
                </c:pt>
                <c:pt idx="11">
                  <c:v>1162</c:v>
                </c:pt>
                <c:pt idx="12">
                  <c:v>1406</c:v>
                </c:pt>
                <c:pt idx="13">
                  <c:v>1421</c:v>
                </c:pt>
                <c:pt idx="14">
                  <c:v>1248</c:v>
                </c:pt>
                <c:pt idx="15">
                  <c:v>1204</c:v>
                </c:pt>
                <c:pt idx="16">
                  <c:v>1000</c:v>
                </c:pt>
                <c:pt idx="17">
                  <c:v>683</c:v>
                </c:pt>
                <c:pt idx="18">
                  <c:v>1650</c:v>
                </c:pt>
                <c:pt idx="19">
                  <c:v>1927</c:v>
                </c:pt>
                <c:pt idx="20">
                  <c:v>1543</c:v>
                </c:pt>
                <c:pt idx="21">
                  <c:v>981</c:v>
                </c:pt>
                <c:pt idx="22">
                  <c:v>986</c:v>
                </c:pt>
                <c:pt idx="23">
                  <c:v>1416</c:v>
                </c:pt>
                <c:pt idx="24">
                  <c:v>1985</c:v>
                </c:pt>
                <c:pt idx="25">
                  <c:v>506</c:v>
                </c:pt>
                <c:pt idx="26">
                  <c:v>431</c:v>
                </c:pt>
                <c:pt idx="27">
                  <c:v>1167</c:v>
                </c:pt>
                <c:pt idx="28">
                  <c:v>1098</c:v>
                </c:pt>
                <c:pt idx="29">
                  <c:v>1096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0229-4CD0-A035-E78F07A9B81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bg1"/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11879178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Observed daily average</c:v>
                </c:pt>
              </c:strCache>
            </c:strRef>
          </c:tx>
          <c:spPr>
            <a:ln w="22225" cap="rnd">
              <a:solidFill>
                <a:schemeClr val="accent1"/>
              </a:solidFill>
            </a:ln>
            <a:effectLst>
              <a:glow rad="139700">
                <a:schemeClr val="accent1">
                  <a:satMod val="175000"/>
                  <a:alpha val="14000"/>
                </a:schemeClr>
              </a:glow>
            </a:effectLst>
          </c:spPr>
          <c:marker>
            <c:symbol val="none"/>
          </c:marker>
          <c:cat>
            <c:strRef>
              <c:f>Sheet1!$A$2:$A$31</c:f>
              <c:strCache>
                <c:ptCount val="30"/>
                <c:pt idx="0">
                  <c:v>01 Jan</c:v>
                </c:pt>
                <c:pt idx="1">
                  <c:v>02 Jan</c:v>
                </c:pt>
                <c:pt idx="2">
                  <c:v>03 Jan</c:v>
                </c:pt>
                <c:pt idx="3">
                  <c:v>04 Jan</c:v>
                </c:pt>
                <c:pt idx="4">
                  <c:v>05 Jan</c:v>
                </c:pt>
                <c:pt idx="5">
                  <c:v>06 Jan</c:v>
                </c:pt>
                <c:pt idx="6">
                  <c:v>07 Jan</c:v>
                </c:pt>
                <c:pt idx="7">
                  <c:v>08 Jan</c:v>
                </c:pt>
                <c:pt idx="8">
                  <c:v>09 Jan</c:v>
                </c:pt>
                <c:pt idx="9">
                  <c:v>10 Jan</c:v>
                </c:pt>
                <c:pt idx="10">
                  <c:v>11 Jan</c:v>
                </c:pt>
                <c:pt idx="11">
                  <c:v>12 Jan</c:v>
                </c:pt>
                <c:pt idx="12">
                  <c:v>13 Jan</c:v>
                </c:pt>
                <c:pt idx="13">
                  <c:v>14 Jan</c:v>
                </c:pt>
                <c:pt idx="14">
                  <c:v>15 Jan</c:v>
                </c:pt>
                <c:pt idx="15">
                  <c:v>16 Jan</c:v>
                </c:pt>
                <c:pt idx="16">
                  <c:v>17 Jan</c:v>
                </c:pt>
                <c:pt idx="17">
                  <c:v>18 Jan</c:v>
                </c:pt>
                <c:pt idx="18">
                  <c:v>19 Jan</c:v>
                </c:pt>
                <c:pt idx="19">
                  <c:v>20 Jan</c:v>
                </c:pt>
                <c:pt idx="20">
                  <c:v>21 Jan</c:v>
                </c:pt>
                <c:pt idx="21">
                  <c:v>22 Jan</c:v>
                </c:pt>
                <c:pt idx="22">
                  <c:v>23 Jan</c:v>
                </c:pt>
                <c:pt idx="23">
                  <c:v>24 Jan</c:v>
                </c:pt>
                <c:pt idx="24">
                  <c:v>25 Jan</c:v>
                </c:pt>
                <c:pt idx="25">
                  <c:v>26 Jan</c:v>
                </c:pt>
                <c:pt idx="26">
                  <c:v>27 Jan</c:v>
                </c:pt>
                <c:pt idx="27">
                  <c:v>28 Jan</c:v>
                </c:pt>
                <c:pt idx="28">
                  <c:v>29 Jan</c:v>
                </c:pt>
                <c:pt idx="29">
                  <c:v>30 Jan</c:v>
                </c:pt>
              </c:strCache>
            </c:strRef>
          </c:cat>
          <c:val>
            <c:numRef>
              <c:f>Sheet1!$B$2:$B$31</c:f>
              <c:numCache>
                <c:formatCode>General</c:formatCode>
                <c:ptCount val="30"/>
                <c:pt idx="0">
                  <c:v>41.041666666666664</c:v>
                </c:pt>
                <c:pt idx="1">
                  <c:v>34.826086956521742</c:v>
                </c:pt>
                <c:pt idx="2">
                  <c:v>61.31818181818182</c:v>
                </c:pt>
                <c:pt idx="3">
                  <c:v>67.913043478260875</c:v>
                </c:pt>
                <c:pt idx="4">
                  <c:v>69.565217391304344</c:v>
                </c:pt>
                <c:pt idx="5">
                  <c:v>69.826086956521735</c:v>
                </c:pt>
                <c:pt idx="6">
                  <c:v>65.652173913043484</c:v>
                </c:pt>
                <c:pt idx="7">
                  <c:v>39.958333333333336</c:v>
                </c:pt>
                <c:pt idx="8">
                  <c:v>34.25</c:v>
                </c:pt>
                <c:pt idx="9">
                  <c:v>55.041666666666664</c:v>
                </c:pt>
                <c:pt idx="10">
                  <c:v>57.409090909090907</c:v>
                </c:pt>
                <c:pt idx="11">
                  <c:v>52.81818181818182</c:v>
                </c:pt>
                <c:pt idx="12">
                  <c:v>58.583333333333336</c:v>
                </c:pt>
                <c:pt idx="13">
                  <c:v>61.782608695652172</c:v>
                </c:pt>
                <c:pt idx="14">
                  <c:v>52</c:v>
                </c:pt>
                <c:pt idx="15">
                  <c:v>50.166666666666664</c:v>
                </c:pt>
                <c:pt idx="16">
                  <c:v>41.666666666666664</c:v>
                </c:pt>
                <c:pt idx="17">
                  <c:v>56.916666666666664</c:v>
                </c:pt>
                <c:pt idx="18">
                  <c:v>71.739130434782609</c:v>
                </c:pt>
                <c:pt idx="19">
                  <c:v>80.291666666666671</c:v>
                </c:pt>
                <c:pt idx="20">
                  <c:v>64.291666666666671</c:v>
                </c:pt>
                <c:pt idx="21">
                  <c:v>42.652173913043477</c:v>
                </c:pt>
                <c:pt idx="22">
                  <c:v>42.869565217391305</c:v>
                </c:pt>
                <c:pt idx="23">
                  <c:v>61.565217391304351</c:v>
                </c:pt>
                <c:pt idx="24">
                  <c:v>86.304347826086953</c:v>
                </c:pt>
                <c:pt idx="25">
                  <c:v>31.625</c:v>
                </c:pt>
                <c:pt idx="26">
                  <c:v>53.875</c:v>
                </c:pt>
                <c:pt idx="27">
                  <c:v>50.739130434782609</c:v>
                </c:pt>
                <c:pt idx="28">
                  <c:v>47.739130434782609</c:v>
                </c:pt>
                <c:pt idx="29">
                  <c:v>47.652173913043477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546E-424E-9997-EB991A28ECC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Gridlines>
          <c:spPr>
            <a:ln w="9525" cap="flat" cmpd="sng" algn="ctr">
              <a:gradFill>
                <a:gsLst>
                  <a:gs pos="100000">
                    <a:schemeClr val="dk1">
                      <a:lumMod val="75000"/>
                      <a:lumOff val="25000"/>
                    </a:schemeClr>
                  </a:gs>
                  <a:gs pos="0">
                    <a:schemeClr val="dk1">
                      <a:lumMod val="65000"/>
                      <a:lumOff val="35000"/>
                    </a:schemeClr>
                  </a:gs>
                </a:gsLst>
                <a:lin ang="5400000" scaled="0"/>
              </a:gradFill>
              <a:round/>
            </a:ln>
            <a:effectLst/>
          </c:spPr>
        </c:majorGridlines>
        <c:numFmt formatCode="General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l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</c:scaling>
        <c:delete val="0"/>
        <c:axPos val="l"/>
        <c:majorGridlines>
          <c:spPr>
            <a:ln w="9525" cap="flat" cmpd="sng" algn="ctr">
              <a:gradFill>
                <a:gsLst>
                  <a:gs pos="100000">
                    <a:schemeClr val="dk1">
                      <a:lumMod val="75000"/>
                      <a:lumOff val="25000"/>
                    </a:schemeClr>
                  </a:gs>
                  <a:gs pos="0">
                    <a:schemeClr val="dk1">
                      <a:lumMod val="65000"/>
                      <a:lumOff val="35000"/>
                    </a:schemeClr>
                  </a:gs>
                </a:gsLst>
                <a:lin ang="5400000" scaled="0"/>
              </a:gra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l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11879178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solidFill>
      <a:schemeClr val="dk1">
        <a:lumMod val="75000"/>
        <a:lumOff val="25000"/>
      </a:schemeClr>
    </a:solidFill>
    <a:ln w="9525" cap="flat" cmpd="sng" algn="ctr">
      <a:solidFill>
        <a:schemeClr val="dk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6.5305115055544025E-2"/>
          <c:y val="6.0606102082800109E-2"/>
          <c:w val="0.89407688169413602"/>
          <c:h val="0.63832293690561404"/>
        </c:manualLayout>
      </c:layout>
      <c:lineChart>
        <c:grouping val="standard"/>
        <c:varyColors val="0"/>
        <c:ser>
          <c:idx val="0"/>
          <c:order val="0"/>
          <c:tx>
            <c:strRef>
              <c:f>FORECASTING!$B$1</c:f>
              <c:strCache>
                <c:ptCount val="1"/>
                <c:pt idx="0">
                  <c:v>Count</c:v>
                </c:pt>
              </c:strCache>
            </c:strRef>
          </c:tx>
          <c:spPr>
            <a:ln w="2222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val>
            <c:numRef>
              <c:f>FORECASTING!$B$2:$B$58</c:f>
              <c:numCache>
                <c:formatCode>General</c:formatCode>
                <c:ptCount val="57"/>
                <c:pt idx="0">
                  <c:v>41.041666666666664</c:v>
                </c:pt>
                <c:pt idx="1">
                  <c:v>34.826086956521742</c:v>
                </c:pt>
                <c:pt idx="2">
                  <c:v>61.31818181818182</c:v>
                </c:pt>
                <c:pt idx="3">
                  <c:v>67.913043478260875</c:v>
                </c:pt>
                <c:pt idx="4">
                  <c:v>69.565217391304344</c:v>
                </c:pt>
                <c:pt idx="5">
                  <c:v>69.826086956521735</c:v>
                </c:pt>
                <c:pt idx="6">
                  <c:v>65.652173913043484</c:v>
                </c:pt>
                <c:pt idx="7">
                  <c:v>39.958333333333336</c:v>
                </c:pt>
                <c:pt idx="8">
                  <c:v>34.25</c:v>
                </c:pt>
                <c:pt idx="9">
                  <c:v>55.041666666666664</c:v>
                </c:pt>
                <c:pt idx="10">
                  <c:v>57.409090909090907</c:v>
                </c:pt>
                <c:pt idx="11">
                  <c:v>52.81818181818182</c:v>
                </c:pt>
                <c:pt idx="12">
                  <c:v>58.583333333333336</c:v>
                </c:pt>
                <c:pt idx="13">
                  <c:v>61.782608695652172</c:v>
                </c:pt>
                <c:pt idx="14">
                  <c:v>52</c:v>
                </c:pt>
                <c:pt idx="15">
                  <c:v>50.166666666666664</c:v>
                </c:pt>
                <c:pt idx="16">
                  <c:v>41.666666666666664</c:v>
                </c:pt>
                <c:pt idx="17">
                  <c:v>56.916666666666664</c:v>
                </c:pt>
                <c:pt idx="18">
                  <c:v>71.739130434782609</c:v>
                </c:pt>
                <c:pt idx="19">
                  <c:v>80.291666666666671</c:v>
                </c:pt>
                <c:pt idx="20">
                  <c:v>64.291666666666671</c:v>
                </c:pt>
                <c:pt idx="21">
                  <c:v>42.652173913043477</c:v>
                </c:pt>
                <c:pt idx="22">
                  <c:v>42.869565217391305</c:v>
                </c:pt>
                <c:pt idx="23">
                  <c:v>61.565217391304351</c:v>
                </c:pt>
                <c:pt idx="24">
                  <c:v>86.304347826086953</c:v>
                </c:pt>
                <c:pt idx="25">
                  <c:v>31.625</c:v>
                </c:pt>
                <c:pt idx="26">
                  <c:v>53.875</c:v>
                </c:pt>
                <c:pt idx="27">
                  <c:v>50.739130434782609</c:v>
                </c:pt>
                <c:pt idx="28">
                  <c:v>47.739130434782609</c:v>
                </c:pt>
                <c:pt idx="29">
                  <c:v>47.652173913043477</c:v>
                </c:pt>
                <c:pt idx="30">
                  <c:v>62.541666666666664</c:v>
                </c:pt>
                <c:pt idx="31">
                  <c:v>59.130434782608695</c:v>
                </c:pt>
                <c:pt idx="32">
                  <c:v>63.583333333333336</c:v>
                </c:pt>
                <c:pt idx="33">
                  <c:v>67.391304347826093</c:v>
                </c:pt>
                <c:pt idx="34">
                  <c:v>74.260869565217391</c:v>
                </c:pt>
                <c:pt idx="35">
                  <c:v>41.875</c:v>
                </c:pt>
                <c:pt idx="36">
                  <c:v>67.625</c:v>
                </c:pt>
                <c:pt idx="37">
                  <c:v>71.333333333333329</c:v>
                </c:pt>
                <c:pt idx="38">
                  <c:v>63.75</c:v>
                </c:pt>
                <c:pt idx="39">
                  <c:v>69.782608695652172</c:v>
                </c:pt>
                <c:pt idx="40">
                  <c:v>66.869565217391298</c:v>
                </c:pt>
                <c:pt idx="41">
                  <c:v>79.36363636363636</c:v>
                </c:pt>
                <c:pt idx="42">
                  <c:v>61.333333333333336</c:v>
                </c:pt>
                <c:pt idx="43">
                  <c:v>69.086956521739125</c:v>
                </c:pt>
                <c:pt idx="44">
                  <c:v>18.875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8FF-4150-BBD0-20982BA8302F}"/>
            </c:ext>
          </c:extLst>
        </c:ser>
        <c:ser>
          <c:idx val="1"/>
          <c:order val="1"/>
          <c:tx>
            <c:strRef>
              <c:f>FORECASTING!$C$1</c:f>
              <c:strCache>
                <c:ptCount val="1"/>
                <c:pt idx="0">
                  <c:v>Forecast(Count)</c:v>
                </c:pt>
              </c:strCache>
            </c:strRef>
          </c:tx>
          <c:spPr>
            <a:ln w="2222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FORECASTING!$A$2:$A$58</c:f>
              <c:numCache>
                <c:formatCode>dd\-mm\-yyyy</c:formatCode>
                <c:ptCount val="57"/>
                <c:pt idx="0">
                  <c:v>40544</c:v>
                </c:pt>
                <c:pt idx="1">
                  <c:v>40545</c:v>
                </c:pt>
                <c:pt idx="2">
                  <c:v>40546</c:v>
                </c:pt>
                <c:pt idx="3">
                  <c:v>40547</c:v>
                </c:pt>
                <c:pt idx="4">
                  <c:v>40548</c:v>
                </c:pt>
                <c:pt idx="5">
                  <c:v>40549</c:v>
                </c:pt>
                <c:pt idx="6">
                  <c:v>40550</c:v>
                </c:pt>
                <c:pt idx="7">
                  <c:v>40551</c:v>
                </c:pt>
                <c:pt idx="8">
                  <c:v>40552</c:v>
                </c:pt>
                <c:pt idx="9">
                  <c:v>40553</c:v>
                </c:pt>
                <c:pt idx="10">
                  <c:v>40554</c:v>
                </c:pt>
                <c:pt idx="11">
                  <c:v>40555</c:v>
                </c:pt>
                <c:pt idx="12">
                  <c:v>40556</c:v>
                </c:pt>
                <c:pt idx="13">
                  <c:v>40557</c:v>
                </c:pt>
                <c:pt idx="14">
                  <c:v>40558</c:v>
                </c:pt>
                <c:pt idx="15">
                  <c:v>40559</c:v>
                </c:pt>
                <c:pt idx="16">
                  <c:v>40560</c:v>
                </c:pt>
                <c:pt idx="17">
                  <c:v>40561</c:v>
                </c:pt>
                <c:pt idx="18">
                  <c:v>40562</c:v>
                </c:pt>
                <c:pt idx="19">
                  <c:v>40563</c:v>
                </c:pt>
                <c:pt idx="20">
                  <c:v>40564</c:v>
                </c:pt>
                <c:pt idx="21">
                  <c:v>40565</c:v>
                </c:pt>
                <c:pt idx="22">
                  <c:v>40566</c:v>
                </c:pt>
                <c:pt idx="23">
                  <c:v>40567</c:v>
                </c:pt>
                <c:pt idx="24">
                  <c:v>40568</c:v>
                </c:pt>
                <c:pt idx="25">
                  <c:v>40569</c:v>
                </c:pt>
                <c:pt idx="26">
                  <c:v>40570</c:v>
                </c:pt>
                <c:pt idx="27">
                  <c:v>40571</c:v>
                </c:pt>
                <c:pt idx="28">
                  <c:v>40572</c:v>
                </c:pt>
                <c:pt idx="29">
                  <c:v>40573</c:v>
                </c:pt>
                <c:pt idx="30">
                  <c:v>40574</c:v>
                </c:pt>
                <c:pt idx="31">
                  <c:v>40575</c:v>
                </c:pt>
                <c:pt idx="32">
                  <c:v>40576</c:v>
                </c:pt>
                <c:pt idx="33">
                  <c:v>40577</c:v>
                </c:pt>
                <c:pt idx="34">
                  <c:v>40578</c:v>
                </c:pt>
                <c:pt idx="35">
                  <c:v>40579</c:v>
                </c:pt>
                <c:pt idx="36">
                  <c:v>40580</c:v>
                </c:pt>
                <c:pt idx="37">
                  <c:v>40581</c:v>
                </c:pt>
                <c:pt idx="38">
                  <c:v>40582</c:v>
                </c:pt>
                <c:pt idx="39">
                  <c:v>40583</c:v>
                </c:pt>
                <c:pt idx="40">
                  <c:v>40584</c:v>
                </c:pt>
                <c:pt idx="41">
                  <c:v>40585</c:v>
                </c:pt>
                <c:pt idx="42">
                  <c:v>40586</c:v>
                </c:pt>
                <c:pt idx="43">
                  <c:v>40587</c:v>
                </c:pt>
                <c:pt idx="44">
                  <c:v>40588</c:v>
                </c:pt>
                <c:pt idx="45">
                  <c:v>40589</c:v>
                </c:pt>
                <c:pt idx="46">
                  <c:v>40590</c:v>
                </c:pt>
                <c:pt idx="47">
                  <c:v>40591</c:v>
                </c:pt>
                <c:pt idx="48">
                  <c:v>40592</c:v>
                </c:pt>
                <c:pt idx="49">
                  <c:v>40593</c:v>
                </c:pt>
                <c:pt idx="50">
                  <c:v>40594</c:v>
                </c:pt>
                <c:pt idx="51">
                  <c:v>40595</c:v>
                </c:pt>
                <c:pt idx="52">
                  <c:v>40596</c:v>
                </c:pt>
                <c:pt idx="53">
                  <c:v>40597</c:v>
                </c:pt>
                <c:pt idx="54">
                  <c:v>40598</c:v>
                </c:pt>
                <c:pt idx="55">
                  <c:v>40599</c:v>
                </c:pt>
                <c:pt idx="56">
                  <c:v>40600</c:v>
                </c:pt>
              </c:numCache>
            </c:numRef>
          </c:cat>
          <c:val>
            <c:numRef>
              <c:f>FORECASTING!$C$2:$C$58</c:f>
              <c:numCache>
                <c:formatCode>General</c:formatCode>
                <c:ptCount val="57"/>
                <c:pt idx="44">
                  <c:v>18.875</c:v>
                </c:pt>
                <c:pt idx="45">
                  <c:v>61.270134143024279</c:v>
                </c:pt>
                <c:pt idx="46">
                  <c:v>61.525827765725516</c:v>
                </c:pt>
                <c:pt idx="47">
                  <c:v>61.781521388426746</c:v>
                </c:pt>
                <c:pt idx="48">
                  <c:v>62.037215011127984</c:v>
                </c:pt>
                <c:pt idx="49">
                  <c:v>62.292908633829221</c:v>
                </c:pt>
                <c:pt idx="50">
                  <c:v>62.548602256530458</c:v>
                </c:pt>
                <c:pt idx="51">
                  <c:v>62.804295879231688</c:v>
                </c:pt>
                <c:pt idx="52">
                  <c:v>63.059989501932925</c:v>
                </c:pt>
                <c:pt idx="53">
                  <c:v>63.315683124634162</c:v>
                </c:pt>
                <c:pt idx="54">
                  <c:v>63.5713767473354</c:v>
                </c:pt>
                <c:pt idx="55">
                  <c:v>63.827070370036637</c:v>
                </c:pt>
                <c:pt idx="56">
                  <c:v>64.082763992737867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78FF-4150-BBD0-20982BA8302F}"/>
            </c:ext>
          </c:extLst>
        </c:ser>
        <c:ser>
          <c:idx val="2"/>
          <c:order val="2"/>
          <c:tx>
            <c:strRef>
              <c:f>FORECASTING!$D$1</c:f>
              <c:strCache>
                <c:ptCount val="1"/>
                <c:pt idx="0">
                  <c:v>Lower Confidence Bound(Count)</c:v>
                </c:pt>
              </c:strCache>
            </c:strRef>
          </c:tx>
          <c:spPr>
            <a:ln w="2222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numRef>
              <c:f>FORECASTING!$A$2:$A$58</c:f>
              <c:numCache>
                <c:formatCode>dd\-mm\-yyyy</c:formatCode>
                <c:ptCount val="57"/>
                <c:pt idx="0">
                  <c:v>40544</c:v>
                </c:pt>
                <c:pt idx="1">
                  <c:v>40545</c:v>
                </c:pt>
                <c:pt idx="2">
                  <c:v>40546</c:v>
                </c:pt>
                <c:pt idx="3">
                  <c:v>40547</c:v>
                </c:pt>
                <c:pt idx="4">
                  <c:v>40548</c:v>
                </c:pt>
                <c:pt idx="5">
                  <c:v>40549</c:v>
                </c:pt>
                <c:pt idx="6">
                  <c:v>40550</c:v>
                </c:pt>
                <c:pt idx="7">
                  <c:v>40551</c:v>
                </c:pt>
                <c:pt idx="8">
                  <c:v>40552</c:v>
                </c:pt>
                <c:pt idx="9">
                  <c:v>40553</c:v>
                </c:pt>
                <c:pt idx="10">
                  <c:v>40554</c:v>
                </c:pt>
                <c:pt idx="11">
                  <c:v>40555</c:v>
                </c:pt>
                <c:pt idx="12">
                  <c:v>40556</c:v>
                </c:pt>
                <c:pt idx="13">
                  <c:v>40557</c:v>
                </c:pt>
                <c:pt idx="14">
                  <c:v>40558</c:v>
                </c:pt>
                <c:pt idx="15">
                  <c:v>40559</c:v>
                </c:pt>
                <c:pt idx="16">
                  <c:v>40560</c:v>
                </c:pt>
                <c:pt idx="17">
                  <c:v>40561</c:v>
                </c:pt>
                <c:pt idx="18">
                  <c:v>40562</c:v>
                </c:pt>
                <c:pt idx="19">
                  <c:v>40563</c:v>
                </c:pt>
                <c:pt idx="20">
                  <c:v>40564</c:v>
                </c:pt>
                <c:pt idx="21">
                  <c:v>40565</c:v>
                </c:pt>
                <c:pt idx="22">
                  <c:v>40566</c:v>
                </c:pt>
                <c:pt idx="23">
                  <c:v>40567</c:v>
                </c:pt>
                <c:pt idx="24">
                  <c:v>40568</c:v>
                </c:pt>
                <c:pt idx="25">
                  <c:v>40569</c:v>
                </c:pt>
                <c:pt idx="26">
                  <c:v>40570</c:v>
                </c:pt>
                <c:pt idx="27">
                  <c:v>40571</c:v>
                </c:pt>
                <c:pt idx="28">
                  <c:v>40572</c:v>
                </c:pt>
                <c:pt idx="29">
                  <c:v>40573</c:v>
                </c:pt>
                <c:pt idx="30">
                  <c:v>40574</c:v>
                </c:pt>
                <c:pt idx="31">
                  <c:v>40575</c:v>
                </c:pt>
                <c:pt idx="32">
                  <c:v>40576</c:v>
                </c:pt>
                <c:pt idx="33">
                  <c:v>40577</c:v>
                </c:pt>
                <c:pt idx="34">
                  <c:v>40578</c:v>
                </c:pt>
                <c:pt idx="35">
                  <c:v>40579</c:v>
                </c:pt>
                <c:pt idx="36">
                  <c:v>40580</c:v>
                </c:pt>
                <c:pt idx="37">
                  <c:v>40581</c:v>
                </c:pt>
                <c:pt idx="38">
                  <c:v>40582</c:v>
                </c:pt>
                <c:pt idx="39">
                  <c:v>40583</c:v>
                </c:pt>
                <c:pt idx="40">
                  <c:v>40584</c:v>
                </c:pt>
                <c:pt idx="41">
                  <c:v>40585</c:v>
                </c:pt>
                <c:pt idx="42">
                  <c:v>40586</c:v>
                </c:pt>
                <c:pt idx="43">
                  <c:v>40587</c:v>
                </c:pt>
                <c:pt idx="44">
                  <c:v>40588</c:v>
                </c:pt>
                <c:pt idx="45">
                  <c:v>40589</c:v>
                </c:pt>
                <c:pt idx="46">
                  <c:v>40590</c:v>
                </c:pt>
                <c:pt idx="47">
                  <c:v>40591</c:v>
                </c:pt>
                <c:pt idx="48">
                  <c:v>40592</c:v>
                </c:pt>
                <c:pt idx="49">
                  <c:v>40593</c:v>
                </c:pt>
                <c:pt idx="50">
                  <c:v>40594</c:v>
                </c:pt>
                <c:pt idx="51">
                  <c:v>40595</c:v>
                </c:pt>
                <c:pt idx="52">
                  <c:v>40596</c:v>
                </c:pt>
                <c:pt idx="53">
                  <c:v>40597</c:v>
                </c:pt>
                <c:pt idx="54">
                  <c:v>40598</c:v>
                </c:pt>
                <c:pt idx="55">
                  <c:v>40599</c:v>
                </c:pt>
                <c:pt idx="56">
                  <c:v>40600</c:v>
                </c:pt>
              </c:numCache>
            </c:numRef>
          </c:cat>
          <c:val>
            <c:numRef>
              <c:f>FORECASTING!$D$2:$D$58</c:f>
              <c:numCache>
                <c:formatCode>General</c:formatCode>
                <c:ptCount val="57"/>
                <c:pt idx="44" formatCode="0.00">
                  <c:v>18.875</c:v>
                </c:pt>
                <c:pt idx="45" formatCode="0.00">
                  <c:v>31.858655883675784</c:v>
                </c:pt>
                <c:pt idx="46" formatCode="0.00">
                  <c:v>31.878109408718345</c:v>
                </c:pt>
                <c:pt idx="47" formatCode="0.00">
                  <c:v>31.895739851191895</c:v>
                </c:pt>
                <c:pt idx="48" formatCode="0.00">
                  <c:v>31.911561716718598</c:v>
                </c:pt>
                <c:pt idx="49" formatCode="0.00">
                  <c:v>31.925589377473688</c:v>
                </c:pt>
                <c:pt idx="50" formatCode="0.00">
                  <c:v>31.937837068955986</c:v>
                </c:pt>
                <c:pt idx="51" formatCode="0.00">
                  <c:v>31.948318887095059</c:v>
                </c:pt>
                <c:pt idx="52" formatCode="0.00">
                  <c:v>31.95704878567814</c:v>
                </c:pt>
                <c:pt idx="53" formatCode="0.00">
                  <c:v>31.964040574080091</c:v>
                </c:pt>
                <c:pt idx="54" formatCode="0.00">
                  <c:v>31.969307915280588</c:v>
                </c:pt>
                <c:pt idx="55" formatCode="0.00">
                  <c:v>31.972864324152855</c:v>
                </c:pt>
                <c:pt idx="56" formatCode="0.00">
                  <c:v>31.974723166009028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78FF-4150-BBD0-20982BA8302F}"/>
            </c:ext>
          </c:extLst>
        </c:ser>
        <c:ser>
          <c:idx val="3"/>
          <c:order val="3"/>
          <c:tx>
            <c:strRef>
              <c:f>FORECASTING!$E$1</c:f>
              <c:strCache>
                <c:ptCount val="1"/>
                <c:pt idx="0">
                  <c:v>Upper Confidence Bound(Count)</c:v>
                </c:pt>
              </c:strCache>
            </c:strRef>
          </c:tx>
          <c:spPr>
            <a:ln w="22225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cat>
            <c:numRef>
              <c:f>FORECASTING!$A$2:$A$58</c:f>
              <c:numCache>
                <c:formatCode>dd\-mm\-yyyy</c:formatCode>
                <c:ptCount val="57"/>
                <c:pt idx="0">
                  <c:v>40544</c:v>
                </c:pt>
                <c:pt idx="1">
                  <c:v>40545</c:v>
                </c:pt>
                <c:pt idx="2">
                  <c:v>40546</c:v>
                </c:pt>
                <c:pt idx="3">
                  <c:v>40547</c:v>
                </c:pt>
                <c:pt idx="4">
                  <c:v>40548</c:v>
                </c:pt>
                <c:pt idx="5">
                  <c:v>40549</c:v>
                </c:pt>
                <c:pt idx="6">
                  <c:v>40550</c:v>
                </c:pt>
                <c:pt idx="7">
                  <c:v>40551</c:v>
                </c:pt>
                <c:pt idx="8">
                  <c:v>40552</c:v>
                </c:pt>
                <c:pt idx="9">
                  <c:v>40553</c:v>
                </c:pt>
                <c:pt idx="10">
                  <c:v>40554</c:v>
                </c:pt>
                <c:pt idx="11">
                  <c:v>40555</c:v>
                </c:pt>
                <c:pt idx="12">
                  <c:v>40556</c:v>
                </c:pt>
                <c:pt idx="13">
                  <c:v>40557</c:v>
                </c:pt>
                <c:pt idx="14">
                  <c:v>40558</c:v>
                </c:pt>
                <c:pt idx="15">
                  <c:v>40559</c:v>
                </c:pt>
                <c:pt idx="16">
                  <c:v>40560</c:v>
                </c:pt>
                <c:pt idx="17">
                  <c:v>40561</c:v>
                </c:pt>
                <c:pt idx="18">
                  <c:v>40562</c:v>
                </c:pt>
                <c:pt idx="19">
                  <c:v>40563</c:v>
                </c:pt>
                <c:pt idx="20">
                  <c:v>40564</c:v>
                </c:pt>
                <c:pt idx="21">
                  <c:v>40565</c:v>
                </c:pt>
                <c:pt idx="22">
                  <c:v>40566</c:v>
                </c:pt>
                <c:pt idx="23">
                  <c:v>40567</c:v>
                </c:pt>
                <c:pt idx="24">
                  <c:v>40568</c:v>
                </c:pt>
                <c:pt idx="25">
                  <c:v>40569</c:v>
                </c:pt>
                <c:pt idx="26">
                  <c:v>40570</c:v>
                </c:pt>
                <c:pt idx="27">
                  <c:v>40571</c:v>
                </c:pt>
                <c:pt idx="28">
                  <c:v>40572</c:v>
                </c:pt>
                <c:pt idx="29">
                  <c:v>40573</c:v>
                </c:pt>
                <c:pt idx="30">
                  <c:v>40574</c:v>
                </c:pt>
                <c:pt idx="31">
                  <c:v>40575</c:v>
                </c:pt>
                <c:pt idx="32">
                  <c:v>40576</c:v>
                </c:pt>
                <c:pt idx="33">
                  <c:v>40577</c:v>
                </c:pt>
                <c:pt idx="34">
                  <c:v>40578</c:v>
                </c:pt>
                <c:pt idx="35">
                  <c:v>40579</c:v>
                </c:pt>
                <c:pt idx="36">
                  <c:v>40580</c:v>
                </c:pt>
                <c:pt idx="37">
                  <c:v>40581</c:v>
                </c:pt>
                <c:pt idx="38">
                  <c:v>40582</c:v>
                </c:pt>
                <c:pt idx="39">
                  <c:v>40583</c:v>
                </c:pt>
                <c:pt idx="40">
                  <c:v>40584</c:v>
                </c:pt>
                <c:pt idx="41">
                  <c:v>40585</c:v>
                </c:pt>
                <c:pt idx="42">
                  <c:v>40586</c:v>
                </c:pt>
                <c:pt idx="43">
                  <c:v>40587</c:v>
                </c:pt>
                <c:pt idx="44">
                  <c:v>40588</c:v>
                </c:pt>
                <c:pt idx="45">
                  <c:v>40589</c:v>
                </c:pt>
                <c:pt idx="46">
                  <c:v>40590</c:v>
                </c:pt>
                <c:pt idx="47">
                  <c:v>40591</c:v>
                </c:pt>
                <c:pt idx="48">
                  <c:v>40592</c:v>
                </c:pt>
                <c:pt idx="49">
                  <c:v>40593</c:v>
                </c:pt>
                <c:pt idx="50">
                  <c:v>40594</c:v>
                </c:pt>
                <c:pt idx="51">
                  <c:v>40595</c:v>
                </c:pt>
                <c:pt idx="52">
                  <c:v>40596</c:v>
                </c:pt>
                <c:pt idx="53">
                  <c:v>40597</c:v>
                </c:pt>
                <c:pt idx="54">
                  <c:v>40598</c:v>
                </c:pt>
                <c:pt idx="55">
                  <c:v>40599</c:v>
                </c:pt>
                <c:pt idx="56">
                  <c:v>40600</c:v>
                </c:pt>
              </c:numCache>
            </c:numRef>
          </c:cat>
          <c:val>
            <c:numRef>
              <c:f>FORECASTING!$E$2:$E$58</c:f>
              <c:numCache>
                <c:formatCode>General</c:formatCode>
                <c:ptCount val="57"/>
                <c:pt idx="44" formatCode="0.00">
                  <c:v>18.875</c:v>
                </c:pt>
                <c:pt idx="45" formatCode="0.00">
                  <c:v>90.681612402372778</c:v>
                </c:pt>
                <c:pt idx="46" formatCode="0.00">
                  <c:v>91.173546122732688</c:v>
                </c:pt>
                <c:pt idx="47" formatCode="0.00">
                  <c:v>91.667302925661602</c:v>
                </c:pt>
                <c:pt idx="48" formatCode="0.00">
                  <c:v>92.162868305537373</c:v>
                </c:pt>
                <c:pt idx="49" formatCode="0.00">
                  <c:v>92.660227890184757</c:v>
                </c:pt>
                <c:pt idx="50" formatCode="0.00">
                  <c:v>93.15936744410493</c:v>
                </c:pt>
                <c:pt idx="51" formatCode="0.00">
                  <c:v>93.660272871368321</c:v>
                </c:pt>
                <c:pt idx="52" formatCode="0.00">
                  <c:v>94.162930218187711</c:v>
                </c:pt>
                <c:pt idx="53" formatCode="0.00">
                  <c:v>94.667325675188238</c:v>
                </c:pt>
                <c:pt idx="54" formatCode="0.00">
                  <c:v>95.173445579390204</c:v>
                </c:pt>
                <c:pt idx="55" formatCode="0.00">
                  <c:v>95.681276415920422</c:v>
                </c:pt>
                <c:pt idx="56" formatCode="0.00">
                  <c:v>96.190804819466706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78FF-4150-BBD0-20982BA8302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014703695"/>
        <c:axId val="1014704527"/>
      </c:lineChart>
      <c:catAx>
        <c:axId val="1014703695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dk1">
                  <a:lumMod val="15000"/>
                  <a:lumOff val="85000"/>
                  <a:alpha val="54000"/>
                </a:schemeClr>
              </a:solidFill>
              <a:round/>
            </a:ln>
            <a:effectLst/>
          </c:spPr>
        </c:majorGridlines>
        <c:minorGridlines>
          <c:spPr>
            <a:ln w="9525" cap="flat" cmpd="sng" algn="ctr">
              <a:solidFill>
                <a:schemeClr val="dk1">
                  <a:lumMod val="15000"/>
                  <a:lumOff val="85000"/>
                  <a:alpha val="51000"/>
                </a:schemeClr>
              </a:solidFill>
              <a:round/>
            </a:ln>
            <a:effectLst/>
          </c:spPr>
        </c:minorGridlines>
        <c:majorTickMark val="none"/>
        <c:minorTickMark val="none"/>
        <c:tickLblPos val="low"/>
        <c:spPr>
          <a:noFill/>
          <a:ln w="9525" cap="flat" cmpd="sng" algn="ctr">
            <a:solidFill>
              <a:schemeClr val="dk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cap="none" spc="0" normalizeH="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14704527"/>
        <c:crosses val="autoZero"/>
        <c:auto val="1"/>
        <c:lblAlgn val="ctr"/>
        <c:lblOffset val="100"/>
        <c:noMultiLvlLbl val="0"/>
      </c:catAx>
      <c:valAx>
        <c:axId val="101470452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dk1">
                  <a:lumMod val="15000"/>
                  <a:lumOff val="85000"/>
                  <a:alpha val="54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14703695"/>
        <c:crosses val="autoZero"/>
        <c:crossBetween val="between"/>
      </c:valAx>
      <c:spPr>
        <a:pattFill prst="ltDnDiag">
          <a:fgClr>
            <a:schemeClr val="dk1">
              <a:lumMod val="15000"/>
              <a:lumOff val="85000"/>
            </a:schemeClr>
          </a:fgClr>
          <a:bgClr>
            <a:schemeClr val="lt1"/>
          </a:bgClr>
        </a:pattFill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dk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solidFill>
      <a:schemeClr val="lt1"/>
    </a:solidFill>
    <a:ln w="9525" cap="flat" cmpd="sng" algn="ctr">
      <a:solidFill>
        <a:schemeClr val="dk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5">
  <cs:axisTitle>
    <cs:lnRef idx="0"/>
    <cs:fillRef idx="0"/>
    <cs:effectRef idx="0"/>
    <cs:fontRef idx="minor">
      <a:schemeClr val="dk1">
        <a:lumMod val="75000"/>
        <a:lumOff val="25000"/>
      </a:schemeClr>
    </cs:fontRef>
    <cs:defRPr sz="1197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1197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lt1"/>
    </cs:fontRef>
    <cs:defRPr sz="1197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solidFill>
        <a:schemeClr val="dk1">
          <a:lumMod val="65000"/>
          <a:lumOff val="35000"/>
          <a:alpha val="75000"/>
        </a:schemeClr>
      </a:solidFill>
    </cs:spPr>
    <cs:defRPr sz="1197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1197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22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36">
  <cs:axisTitle>
    <cs:lnRef idx="0"/>
    <cs:fillRef idx="0"/>
    <cs:effectRef idx="0"/>
    <cs:fontRef idx="minor">
      <a:schemeClr val="lt1">
        <a:lumMod val="75000"/>
      </a:schemeClr>
    </cs:fontRef>
    <cs:defRPr sz="1197" b="1" kern="1200"/>
  </cs:axisTitle>
  <cs:categoryAxis>
    <cs:lnRef idx="0"/>
    <cs:fillRef idx="0"/>
    <cs:effectRef idx="0"/>
    <cs:fontRef idx="minor">
      <a:schemeClr val="lt1">
        <a:lumMod val="75000"/>
      </a:schemeClr>
    </cs:fontRef>
    <cs:defRPr sz="1197" kern="1200"/>
  </cs:categoryAxis>
  <cs:chartArea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lt1">
        <a:lumMod val="75000"/>
      </a:schemeClr>
    </cs:fontRef>
    <cs:defRPr sz="1197" kern="1200"/>
  </cs:dataLabel>
  <cs:dataLabelCallout>
    <cs:lnRef idx="0"/>
    <cs:fillRef idx="0"/>
    <cs:effectRef idx="0"/>
    <cs:fontRef idx="minor">
      <a:schemeClr val="lt1">
        <a:lumMod val="15000"/>
        <a:lumOff val="85000"/>
      </a:schemeClr>
    </cs:fontRef>
    <cs:spPr>
      <a:solidFill>
        <a:schemeClr val="dk1">
          <a:lumMod val="65000"/>
          <a:lumOff val="35000"/>
        </a:schemeClr>
      </a:solidFill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0"/>
    <cs:effectRef idx="0">
      <cs:styleClr val="auto"/>
    </cs:effectRef>
    <cs:fontRef idx="minor">
      <a:schemeClr val="dk1"/>
    </cs:fontRef>
    <cs:spPr>
      <a:ln w="9525" cap="flat" cmpd="sng" algn="ctr">
        <a:solidFill>
          <a:schemeClr val="phClr"/>
        </a:solidFill>
        <a:miter lim="800000"/>
      </a:ln>
      <a:effectLst>
        <a:glow rad="63500">
          <a:schemeClr val="phClr">
            <a:satMod val="175000"/>
            <a:alpha val="25000"/>
          </a:schemeClr>
        </a:glow>
      </a:effectLst>
    </cs:spPr>
  </cs:dataPoint>
  <cs:dataPoint3D>
    <cs:lnRef idx="0">
      <cs:styleClr val="auto"/>
    </cs:lnRef>
    <cs:fillRef idx="0">
      <cs:styleClr val="auto"/>
    </cs:fillRef>
    <cs:effectRef idx="0">
      <cs:styleClr val="auto"/>
    </cs:effectRef>
    <cs:fontRef idx="minor">
      <a:schemeClr val="dk1"/>
    </cs:fontRef>
    <cs:spPr>
      <a:ln w="9525" cap="flat" cmpd="sng" algn="ctr">
        <a:solidFill>
          <a:schemeClr val="phClr"/>
        </a:solidFill>
        <a:miter lim="800000"/>
      </a:ln>
      <a:effectLst>
        <a:glow rad="63500">
          <a:schemeClr val="phClr">
            <a:satMod val="175000"/>
            <a:alpha val="25000"/>
          </a:schemeClr>
        </a:glow>
      </a:effectLst>
    </cs:spPr>
  </cs:dataPoint3D>
  <cs:dataPointLine>
    <cs:lnRef idx="0">
      <cs:styleClr val="auto"/>
    </cs:lnRef>
    <cs:fillRef idx="0">
      <cs:styleClr val="auto"/>
    </cs:fillRef>
    <cs:effectRef idx="0">
      <cs:styleClr val="auto"/>
    </cs:effectRef>
    <cs:fontRef idx="minor">
      <a:schemeClr val="dk1"/>
    </cs:fontRef>
    <cs:spPr>
      <a:ln w="22225" cap="rnd">
        <a:solidFill>
          <a:schemeClr val="phClr"/>
        </a:solidFill>
      </a:ln>
      <a:effectLst>
        <a:glow rad="139700">
          <a:schemeClr val="phClr">
            <a:satMod val="175000"/>
            <a:alpha val="14000"/>
          </a:schemeClr>
        </a:glow>
      </a:effectLst>
    </cs:spPr>
  </cs:dataPointLine>
  <cs:dataPointMarker>
    <cs:lnRef idx="0">
      <cs:styleClr val="auto"/>
    </cs:lnRef>
    <cs:fillRef idx="0">
      <cs:styleClr val="auto"/>
    </cs:fillRef>
    <cs:effectRef idx="0">
      <cs:styleClr val="auto"/>
    </cs:effectRef>
    <cs:fontRef idx="minor">
      <a:schemeClr val="dk1"/>
    </cs:fontRef>
    <cs:spPr>
      <a:solidFill>
        <a:schemeClr val="phClr">
          <a:lumMod val="60000"/>
          <a:lumOff val="40000"/>
        </a:schemeClr>
      </a:solidFill>
      <a:effectLst>
        <a:glow rad="63500">
          <a:schemeClr val="phClr">
            <a:satMod val="175000"/>
            <a:alpha val="25000"/>
          </a:schemeClr>
        </a:glow>
      </a:effectLst>
    </cs:spPr>
  </cs:dataPointMarker>
  <cs:dataPointMarkerLayout symbol="circle" size="4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75000"/>
      </a:schemeClr>
    </cs:fontRef>
    <cs:spPr>
      <a:ln w="9525">
        <a:solidFill>
          <a:schemeClr val="dk1">
            <a:lumMod val="50000"/>
            <a:lumOff val="50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lt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75000"/>
          </a:schemeClr>
        </a:solidFill>
        <a:round/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75000"/>
                <a:lumOff val="25000"/>
              </a:schemeClr>
            </a:gs>
            <a:gs pos="0">
              <a:schemeClr val="dk1">
                <a:lumMod val="65000"/>
                <a:lumOff val="35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75000"/>
                <a:lumOff val="25000"/>
                <a:alpha val="25000"/>
              </a:schemeClr>
            </a:gs>
            <a:gs pos="0">
              <a:schemeClr val="dk1">
                <a:lumMod val="65000"/>
                <a:lumOff val="35000"/>
                <a:alpha val="25000"/>
              </a:schemeClr>
            </a:gs>
          </a:gsLst>
          <a:lin ang="5400000" scaled="0"/>
        </a:gra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leaderLine>
  <cs:legend>
    <cs:lnRef idx="0"/>
    <cs:fillRef idx="0"/>
    <cs:effectRef idx="0"/>
    <cs:fontRef idx="minor">
      <a:schemeClr val="lt1">
        <a:lumMod val="75000"/>
      </a:schemeClr>
    </cs:fontRef>
    <cs:defRPr sz="1197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lt1">
        <a:lumMod val="75000"/>
      </a:schemeClr>
    </cs:fontRef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85000"/>
      </a:schemeClr>
    </cs:fontRef>
    <cs:defRPr sz="1862" b="1" kern="1200" cap="none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25400" cap="rnd">
        <a:solidFill>
          <a:schemeClr val="phClr">
            <a:alpha val="50000"/>
          </a:schemeClr>
        </a:solidFill>
      </a:ln>
    </cs:spPr>
  </cs:trendline>
  <cs:trendlineLabel>
    <cs:lnRef idx="0"/>
    <cs:fillRef idx="0"/>
    <cs:effectRef idx="0"/>
    <cs:fontRef idx="minor">
      <a:schemeClr val="lt1">
        <a:lumMod val="7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>
          <a:lumMod val="85000"/>
        </a:schemeClr>
      </a:solidFill>
      <a:ln w="9525">
        <a:solidFill>
          <a:schemeClr val="dk1">
            <a:lumMod val="50000"/>
          </a:schemeClr>
        </a:solidFill>
        <a:round/>
      </a:ln>
    </cs:spPr>
  </cs:upBar>
  <cs:valueAxis>
    <cs:lnRef idx="0"/>
    <cs:fillRef idx="0"/>
    <cs:effectRef idx="0"/>
    <cs:fontRef idx="minor">
      <a:schemeClr val="lt1">
        <a:lumMod val="75000"/>
      </a:schemeClr>
    </cs:fontRef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4.xml><?xml version="1.0" encoding="utf-8"?>
<cs:chartStyle xmlns:cs="http://schemas.microsoft.com/office/drawing/2012/chartStyle" xmlns:a="http://schemas.openxmlformats.org/drawingml/2006/main" id="232">
  <cs:axisTitle>
    <cs:lnRef idx="0"/>
    <cs:fillRef idx="0"/>
    <cs:effectRef idx="0"/>
    <cs:fontRef idx="minor">
      <a:schemeClr val="dk1">
        <a:lumMod val="65000"/>
        <a:lumOff val="3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 cap="none" spc="0" normalizeH="0" baseline="0"/>
  </cs:categoryAxis>
  <cs:chartArea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dk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lt1"/>
      </a:solidFill>
      <a:ln w="1587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8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downBar>
  <cs:drop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  <cs:spPr>
      <a:pattFill prst="ltDnDiag">
        <a:fgClr>
          <a:schemeClr val="dk1">
            <a:lumMod val="15000"/>
            <a:lumOff val="85000"/>
          </a:schemeClr>
        </a:fgClr>
        <a:bgClr>
          <a:schemeClr val="lt1"/>
        </a:bgClr>
      </a:pattFill>
    </cs:spPr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15000"/>
            <a:lumOff val="85000"/>
            <a:alpha val="54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15000"/>
            <a:lumOff val="85000"/>
            <a:alpha val="51000"/>
          </a:schemeClr>
        </a:soli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legend>
  <cs:plotArea>
    <cs:lnRef idx="0"/>
    <cs:fillRef idx="0"/>
    <cs:effectRef idx="0"/>
    <cs:fontRef idx="minor">
      <a:schemeClr val="dk1"/>
    </cs:fontRef>
    <cs:spPr>
      <a:pattFill prst="ltDnDiag">
        <a:fgClr>
          <a:schemeClr val="dk1">
            <a:lumMod val="15000"/>
            <a:lumOff val="85000"/>
          </a:schemeClr>
        </a:fgClr>
        <a:bgClr>
          <a:schemeClr val="lt1"/>
        </a:bgClr>
      </a:pattFill>
    </cs:spPr>
  </cs:plotArea>
  <cs:plotArea3D>
    <cs:lnRef idx="0"/>
    <cs:fillRef idx="0"/>
    <cs:effectRef idx="0"/>
    <cs:fontRef idx="minor">
      <a:schemeClr val="dk1"/>
    </cs:fontRef>
    <cs:spPr>
      <a:solidFill>
        <a:schemeClr val="lt1"/>
      </a:solidFill>
    </cs:spPr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ajor">
      <a:schemeClr val="dk1">
        <a:lumMod val="50000"/>
        <a:lumOff val="50000"/>
      </a:schemeClr>
    </cs:fontRef>
    <cs:defRPr sz="1600" b="1" kern="1200" cap="none" spc="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dk1"/>
    </cs:fontRef>
    <cs:spPr>
      <a:pattFill prst="ltDnDiag">
        <a:fgClr>
          <a:schemeClr val="dk1">
            <a:lumMod val="15000"/>
            <a:lumOff val="85000"/>
          </a:schemeClr>
        </a:fgClr>
        <a:bgClr>
          <a:schemeClr val="lt1"/>
        </a:bgClr>
      </a:pattFill>
    </cs:spPr>
  </cs:wall>
</cs:chartStyle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621152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3524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5422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16404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9022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12505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65140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71607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37170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05131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938349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02314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955278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163208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976619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738261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54112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931273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777240" y="1130668"/>
            <a:ext cx="457200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100" b="1">
                <a:solidFill>
                  <a:srgbClr val="00CCB8"/>
                </a:solidFill>
                <a:latin typeface="Aptos"/>
              </a:defRPr>
            </a:pPr>
            <a:r>
              <a:t>DATA ANALYTICS • PROJECT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17320"/>
            <a:ext cx="7132320" cy="560153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3400" b="1">
                <a:solidFill>
                  <a:srgbClr val="F5F8FC"/>
                </a:solidFill>
                <a:latin typeface="Aptos"/>
              </a:defRPr>
            </a:pPr>
            <a:r>
              <a:rPr dirty="0"/>
              <a:t>BIKE </a:t>
            </a:r>
            <a:r>
              <a:rPr dirty="0" smtClean="0"/>
              <a:t>SHARING</a:t>
            </a:r>
            <a:r>
              <a:rPr lang="en-IN" dirty="0" smtClean="0"/>
              <a:t> </a:t>
            </a:r>
            <a:r>
              <a:rPr dirty="0" smtClean="0"/>
              <a:t>DATA </a:t>
            </a:r>
            <a:r>
              <a:rPr dirty="0"/>
              <a:t>ANALYSIS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528816"/>
            <a:ext cx="7315200" cy="16459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800" b="0">
                <a:solidFill>
                  <a:srgbClr val="A4B4CA"/>
                </a:solidFill>
                <a:latin typeface="Aptos"/>
              </a:defRPr>
            </a:pPr>
            <a:r>
              <a:t>BIKE SHARING ANALYTICS  •  EXCEL PROJECT REVIEW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64240" y="6492240"/>
            <a:ext cx="502920" cy="20116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r">
              <a:defRPr sz="900" b="1">
                <a:solidFill>
                  <a:srgbClr val="00CCB8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7922" y="2304160"/>
            <a:ext cx="41098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 smtClean="0"/>
              <a:t>Project By : </a:t>
            </a:r>
            <a:r>
              <a:rPr lang="en-IN" sz="2000" b="1" dirty="0"/>
              <a:t>Next </a:t>
            </a:r>
            <a:r>
              <a:rPr lang="en-IN" sz="2000" b="1" dirty="0" smtClean="0"/>
              <a:t>Hikes IT </a:t>
            </a:r>
            <a:r>
              <a:rPr lang="en-IN" sz="2000" b="1" dirty="0"/>
              <a:t>Solutions</a:t>
            </a:r>
            <a:endParaRPr lang="en-IN" sz="2000" b="1" dirty="0"/>
          </a:p>
        </p:txBody>
      </p:sp>
      <p:sp>
        <p:nvSpPr>
          <p:cNvPr id="10" name="TextBox 9"/>
          <p:cNvSpPr txBox="1"/>
          <p:nvPr/>
        </p:nvSpPr>
        <p:spPr>
          <a:xfrm>
            <a:off x="707922" y="2788280"/>
            <a:ext cx="32643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Presented By </a:t>
            </a:r>
            <a:r>
              <a:rPr lang="en-IN" dirty="0"/>
              <a:t>: </a:t>
            </a:r>
            <a:r>
              <a:rPr lang="en-IN" dirty="0" err="1"/>
              <a:t>Vishva</a:t>
            </a:r>
            <a:r>
              <a:rPr lang="en-IN" dirty="0"/>
              <a:t> </a:t>
            </a:r>
            <a:r>
              <a:rPr lang="en-IN" dirty="0" err="1"/>
              <a:t>kalariya</a:t>
            </a:r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694944"/>
            <a:ext cx="10972800" cy="190821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000" b="1">
                <a:solidFill>
                  <a:srgbClr val="00CCB8"/>
                </a:solidFill>
                <a:latin typeface="Aptos"/>
              </a:defRPr>
            </a:pPr>
            <a:r>
              <a:rPr dirty="0">
                <a:solidFill>
                  <a:srgbClr val="002060"/>
                </a:solidFill>
              </a:rPr>
              <a:t>01 • 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90009"/>
            <a:ext cx="10972800" cy="4678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2800" b="1">
                <a:solidFill>
                  <a:srgbClr val="F5F8FC"/>
                </a:solidFill>
                <a:latin typeface="Aptos"/>
              </a:defRPr>
            </a:pPr>
            <a:r>
              <a:rPr dirty="0">
                <a:solidFill>
                  <a:srgbClr val="002060"/>
                </a:solidFill>
              </a:rPr>
              <a:t>What the workbook tells 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92240"/>
            <a:ext cx="502920" cy="175433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r">
              <a:defRPr sz="900" b="1">
                <a:solidFill>
                  <a:srgbClr val="00CCB8"/>
                </a:solidFill>
                <a:latin typeface="Aptos"/>
              </a:defRPr>
            </a:pPr>
            <a:r>
              <a:rPr dirty="0">
                <a:solidFill>
                  <a:schemeClr val="bg1"/>
                </a:solidFill>
              </a:rPr>
              <a:t>02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057400"/>
            <a:ext cx="2148840" cy="1325880"/>
          </a:xfrm>
          <a:prstGeom prst="roundRect">
            <a:avLst/>
          </a:prstGeom>
          <a:solidFill>
            <a:srgbClr val="1A2D4C"/>
          </a:solidFill>
          <a:ln>
            <a:solidFill>
              <a:srgbClr val="2B42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59" y="2221992"/>
            <a:ext cx="1783080" cy="25603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900" b="1">
                <a:solidFill>
                  <a:srgbClr val="A4B4CA"/>
                </a:solidFill>
                <a:latin typeface="Aptos"/>
              </a:defRPr>
            </a:pPr>
            <a:r>
              <a:t>TOTAL RENTALS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2542032"/>
            <a:ext cx="1783080" cy="53035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2500" b="1">
                <a:solidFill>
                  <a:srgbClr val="00CCB8"/>
                </a:solidFill>
                <a:latin typeface="Aptos"/>
              </a:defRPr>
            </a:pPr>
            <a:r>
              <a:t>58,304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2999232"/>
            <a:ext cx="1783080" cy="2286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900" b="0">
                <a:solidFill>
                  <a:srgbClr val="A4B4CA"/>
                </a:solidFill>
                <a:latin typeface="Aptos"/>
              </a:defRPr>
            </a:pPr>
            <a:r>
              <a:t>Sum of Count in 1,000 rows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71800" y="2057400"/>
            <a:ext cx="2148840" cy="1325880"/>
          </a:xfrm>
          <a:prstGeom prst="roundRect">
            <a:avLst/>
          </a:prstGeom>
          <a:solidFill>
            <a:srgbClr val="1A2D4C"/>
          </a:solidFill>
          <a:ln>
            <a:solidFill>
              <a:srgbClr val="2B42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154680" y="2221992"/>
            <a:ext cx="1783080" cy="25603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900" b="1">
                <a:solidFill>
                  <a:srgbClr val="A4B4CA"/>
                </a:solidFill>
                <a:latin typeface="Aptos"/>
              </a:defRPr>
            </a:pPr>
            <a:r>
              <a:t>REGISTERED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54680" y="2542032"/>
            <a:ext cx="1783080" cy="53035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2500" b="1">
                <a:solidFill>
                  <a:srgbClr val="4D8EFF"/>
                </a:solidFill>
                <a:latin typeface="Aptos"/>
              </a:defRPr>
            </a:pPr>
            <a:r>
              <a:t>53,383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54680" y="2999232"/>
            <a:ext cx="1783080" cy="2286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900" b="0">
                <a:solidFill>
                  <a:srgbClr val="A4B4CA"/>
                </a:solidFill>
                <a:latin typeface="Aptos"/>
              </a:defRPr>
            </a:pPr>
            <a:r>
              <a:t>Customer type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303520" y="2057400"/>
            <a:ext cx="2148840" cy="1325880"/>
          </a:xfrm>
          <a:prstGeom prst="roundRect">
            <a:avLst/>
          </a:prstGeom>
          <a:solidFill>
            <a:srgbClr val="1A2D4C"/>
          </a:solidFill>
          <a:ln>
            <a:solidFill>
              <a:srgbClr val="2B42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486400" y="2221992"/>
            <a:ext cx="1783080" cy="25603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900" b="1">
                <a:solidFill>
                  <a:srgbClr val="A4B4CA"/>
                </a:solidFill>
                <a:latin typeface="Aptos"/>
              </a:defRPr>
            </a:pPr>
            <a:r>
              <a:t>CASUAL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2542032"/>
            <a:ext cx="1783080" cy="53035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2500" b="1">
                <a:solidFill>
                  <a:srgbClr val="FFBE5C"/>
                </a:solidFill>
                <a:latin typeface="Aptos"/>
              </a:defRPr>
            </a:pPr>
            <a:r>
              <a:t>4,921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0" y="2999232"/>
            <a:ext cx="1783080" cy="2286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900" b="0">
                <a:solidFill>
                  <a:srgbClr val="A4B4CA"/>
                </a:solidFill>
                <a:latin typeface="Aptos"/>
              </a:defRPr>
            </a:pPr>
            <a:r>
              <a:t>Customer type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635240" y="2057400"/>
            <a:ext cx="2148840" cy="1325880"/>
          </a:xfrm>
          <a:prstGeom prst="roundRect">
            <a:avLst/>
          </a:prstGeom>
          <a:solidFill>
            <a:srgbClr val="1A2D4C"/>
          </a:solidFill>
          <a:ln>
            <a:solidFill>
              <a:srgbClr val="2B42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818119" y="2221992"/>
            <a:ext cx="1783080" cy="25603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900" b="1">
                <a:solidFill>
                  <a:srgbClr val="A4B4CA"/>
                </a:solidFill>
                <a:latin typeface="Aptos"/>
              </a:defRPr>
            </a:pPr>
            <a:r>
              <a:t>AVG. PER RECORD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18119" y="2542032"/>
            <a:ext cx="1783080" cy="53035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2500" b="1">
                <a:solidFill>
                  <a:srgbClr val="FF6987"/>
                </a:solidFill>
                <a:latin typeface="Aptos"/>
              </a:defRPr>
            </a:pPr>
            <a:r>
              <a:t>58.3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18119" y="2999232"/>
            <a:ext cx="1783080" cy="2286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900" b="0">
                <a:solidFill>
                  <a:srgbClr val="A4B4CA"/>
                </a:solidFill>
                <a:latin typeface="Aptos"/>
              </a:defRPr>
            </a:pPr>
            <a:r>
              <a:t>Count / records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966960" y="2057400"/>
            <a:ext cx="1600200" cy="1325880"/>
          </a:xfrm>
          <a:prstGeom prst="roundRect">
            <a:avLst/>
          </a:prstGeom>
          <a:solidFill>
            <a:srgbClr val="1A2D4C"/>
          </a:solidFill>
          <a:ln>
            <a:solidFill>
              <a:srgbClr val="2B42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149840" y="2221992"/>
            <a:ext cx="1234440" cy="25603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900" b="1">
                <a:solidFill>
                  <a:srgbClr val="A4B4CA"/>
                </a:solidFill>
                <a:latin typeface="Aptos"/>
              </a:defRPr>
            </a:pPr>
            <a:r>
              <a:t>RECORDS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149840" y="2542032"/>
            <a:ext cx="1234440" cy="53035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2500" b="1">
                <a:solidFill>
                  <a:srgbClr val="00CCB8"/>
                </a:solidFill>
                <a:latin typeface="Aptos"/>
              </a:defRPr>
            </a:pPr>
            <a:r>
              <a:t>1,000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149840" y="2999232"/>
            <a:ext cx="1234440" cy="2286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900" b="0">
                <a:solidFill>
                  <a:srgbClr val="A4B4CA"/>
                </a:solidFill>
                <a:latin typeface="Aptos"/>
              </a:defRPr>
            </a:pPr>
            <a:r>
              <a:t>Analyzed</a:t>
            </a:r>
          </a:p>
        </p:txBody>
      </p:sp>
      <p:sp>
        <p:nvSpPr>
          <p:cNvPr id="28" name="Oval 27"/>
          <p:cNvSpPr/>
          <p:nvPr/>
        </p:nvSpPr>
        <p:spPr>
          <a:xfrm>
            <a:off x="822960" y="4087368"/>
            <a:ext cx="118872" cy="118872"/>
          </a:xfrm>
          <a:prstGeom prst="ellipse">
            <a:avLst/>
          </a:prstGeom>
          <a:solidFill>
            <a:srgbClr val="00C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097280" y="3977639"/>
            <a:ext cx="10195560" cy="267766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500" b="0">
                <a:solidFill>
                  <a:srgbClr val="F5F8FC"/>
                </a:solidFill>
                <a:latin typeface="Aptos"/>
              </a:defRPr>
            </a:pPr>
            <a:r>
              <a:rPr dirty="0">
                <a:solidFill>
                  <a:schemeClr val="bg1"/>
                </a:solidFill>
              </a:rPr>
              <a:t>Registered riders contribute the clear majority of rentals.</a:t>
            </a:r>
          </a:p>
        </p:txBody>
      </p:sp>
      <p:sp>
        <p:nvSpPr>
          <p:cNvPr id="30" name="Oval 29"/>
          <p:cNvSpPr/>
          <p:nvPr/>
        </p:nvSpPr>
        <p:spPr>
          <a:xfrm>
            <a:off x="822960" y="4617720"/>
            <a:ext cx="118872" cy="118872"/>
          </a:xfrm>
          <a:prstGeom prst="ellipse">
            <a:avLst/>
          </a:prstGeom>
          <a:solidFill>
            <a:srgbClr val="00C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097280" y="4507992"/>
            <a:ext cx="10195560" cy="267766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500" b="0">
                <a:solidFill>
                  <a:srgbClr val="F5F8FC"/>
                </a:solidFill>
                <a:latin typeface="Aptos"/>
              </a:defRPr>
            </a:pPr>
            <a:r>
              <a:rPr dirty="0">
                <a:solidFill>
                  <a:schemeClr val="bg1"/>
                </a:solidFill>
              </a:rPr>
              <a:t>Hourly, weather and temperature fields support demand segmentation</a:t>
            </a:r>
            <a:r>
              <a:rPr dirty="0"/>
              <a:t>.</a:t>
            </a:r>
          </a:p>
        </p:txBody>
      </p:sp>
      <p:sp>
        <p:nvSpPr>
          <p:cNvPr id="32" name="Oval 31"/>
          <p:cNvSpPr/>
          <p:nvPr/>
        </p:nvSpPr>
        <p:spPr>
          <a:xfrm>
            <a:off x="822960" y="5148072"/>
            <a:ext cx="118872" cy="118872"/>
          </a:xfrm>
          <a:prstGeom prst="ellipse">
            <a:avLst/>
          </a:prstGeom>
          <a:solidFill>
            <a:srgbClr val="00C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097280" y="5038344"/>
            <a:ext cx="10195560" cy="267766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500" b="0">
                <a:solidFill>
                  <a:srgbClr val="F5F8FC"/>
                </a:solidFill>
                <a:latin typeface="Aptos"/>
              </a:defRPr>
            </a:pPr>
            <a:r>
              <a:rPr dirty="0">
                <a:solidFill>
                  <a:schemeClr val="bg1"/>
                </a:solidFill>
              </a:rPr>
              <a:t>The workbook includes cleaned data, summary statistics, pivot-style views, forecasting and anomaly detection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782414"/>
            <a:ext cx="10972800" cy="190821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000" b="1">
                <a:solidFill>
                  <a:srgbClr val="00CCB8"/>
                </a:solidFill>
                <a:latin typeface="Aptos"/>
              </a:defRPr>
            </a:pPr>
            <a:r>
              <a:rPr dirty="0">
                <a:solidFill>
                  <a:schemeClr val="bg2">
                    <a:lumMod val="75000"/>
                  </a:schemeClr>
                </a:solidFill>
              </a:rPr>
              <a:t>03 • WORKBOOK WALKTHROUGH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141524"/>
            <a:ext cx="10972800" cy="4678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2800" b="1">
                <a:solidFill>
                  <a:srgbClr val="F5F8FC"/>
                </a:solidFill>
                <a:latin typeface="Aptos"/>
              </a:defRPr>
            </a:pPr>
            <a:r>
              <a:rPr dirty="0">
                <a:solidFill>
                  <a:srgbClr val="002060"/>
                </a:solidFill>
              </a:rPr>
              <a:t>A multi-stage Excel workflow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92240"/>
            <a:ext cx="502920" cy="175433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r">
              <a:defRPr sz="900" b="1">
                <a:solidFill>
                  <a:srgbClr val="00CCB8"/>
                </a:solidFill>
                <a:latin typeface="Aptos"/>
              </a:defRPr>
            </a:pPr>
            <a:r>
              <a:rPr lang="en-IN" dirty="0" smtClean="0">
                <a:solidFill>
                  <a:schemeClr val="bg1"/>
                </a:solidFill>
              </a:rPr>
              <a:t>03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77240" y="2057400"/>
            <a:ext cx="5074920" cy="960120"/>
          </a:xfrm>
          <a:prstGeom prst="roundRect">
            <a:avLst/>
          </a:prstGeom>
          <a:solidFill>
            <a:srgbClr val="1A2D4C"/>
          </a:solidFill>
          <a:ln>
            <a:solidFill>
              <a:srgbClr val="2B42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0120" y="2221992"/>
            <a:ext cx="4709159" cy="25603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900" b="1">
                <a:solidFill>
                  <a:srgbClr val="A4B4CA"/>
                </a:solidFill>
                <a:latin typeface="Aptos"/>
              </a:defRPr>
            </a:pPr>
            <a:r>
              <a:t>DATASETS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542032"/>
            <a:ext cx="4709159" cy="53035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2500" b="1">
                <a:solidFill>
                  <a:srgbClr val="00CCB8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633472"/>
            <a:ext cx="4709159" cy="175433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900" b="0">
                <a:solidFill>
                  <a:srgbClr val="A4B4CA"/>
                </a:solidFill>
                <a:latin typeface="Aptos"/>
              </a:defRPr>
            </a:pPr>
            <a:r>
              <a:rPr lang="en-IN" dirty="0" smtClean="0"/>
              <a:t>              </a:t>
            </a:r>
            <a:r>
              <a:rPr dirty="0" smtClean="0"/>
              <a:t>Three source </a:t>
            </a:r>
            <a:r>
              <a:rPr dirty="0"/>
              <a:t>/ combined </a:t>
            </a:r>
            <a:r>
              <a:rPr dirty="0" smtClean="0"/>
              <a:t>dataset </a:t>
            </a:r>
            <a:r>
              <a:rPr dirty="0"/>
              <a:t>tabs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2057400"/>
            <a:ext cx="5074920" cy="960120"/>
          </a:xfrm>
          <a:prstGeom prst="roundRect">
            <a:avLst/>
          </a:prstGeom>
          <a:solidFill>
            <a:srgbClr val="1A2D4C"/>
          </a:solidFill>
          <a:ln>
            <a:solidFill>
              <a:srgbClr val="2B42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46520" y="2221992"/>
            <a:ext cx="4709159" cy="25603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900" b="1">
                <a:solidFill>
                  <a:srgbClr val="A4B4CA"/>
                </a:solidFill>
                <a:latin typeface="Aptos"/>
              </a:defRPr>
            </a:pPr>
            <a:r>
              <a:t>FINAL RESULT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2542032"/>
            <a:ext cx="4709159" cy="53035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2500" b="1">
                <a:solidFill>
                  <a:srgbClr val="00CCB8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2633472"/>
            <a:ext cx="4709159" cy="175433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900" b="0">
                <a:solidFill>
                  <a:srgbClr val="A4B4CA"/>
                </a:solidFill>
                <a:latin typeface="Aptos"/>
              </a:defRPr>
            </a:pPr>
            <a:r>
              <a:rPr lang="en-IN" dirty="0" smtClean="0"/>
              <a:t>               </a:t>
            </a:r>
            <a:r>
              <a:rPr dirty="0" smtClean="0"/>
              <a:t>Consolidated </a:t>
            </a:r>
            <a:r>
              <a:rPr dirty="0"/>
              <a:t>hourly table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3319272"/>
            <a:ext cx="5074920" cy="960120"/>
          </a:xfrm>
          <a:prstGeom prst="roundRect">
            <a:avLst/>
          </a:prstGeom>
          <a:solidFill>
            <a:srgbClr val="1A2D4C"/>
          </a:solidFill>
          <a:ln>
            <a:solidFill>
              <a:srgbClr val="2B42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60120" y="3483864"/>
            <a:ext cx="4709159" cy="25603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900" b="1">
                <a:solidFill>
                  <a:srgbClr val="A4B4CA"/>
                </a:solidFill>
                <a:latin typeface="Aptos"/>
              </a:defRPr>
            </a:pPr>
            <a:r>
              <a:t>STATISTICS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3803904"/>
            <a:ext cx="4709159" cy="53035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2500" b="1">
                <a:solidFill>
                  <a:srgbClr val="00CCB8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40181" y="3927348"/>
            <a:ext cx="4709159" cy="2286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900" b="0">
                <a:solidFill>
                  <a:srgbClr val="A4B4CA"/>
                </a:solidFill>
                <a:latin typeface="Aptos"/>
              </a:defRPr>
            </a:pPr>
            <a:r>
              <a:t>KPIs, summary measures, formulas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319272"/>
            <a:ext cx="5074920" cy="960120"/>
          </a:xfrm>
          <a:prstGeom prst="roundRect">
            <a:avLst/>
          </a:prstGeom>
          <a:solidFill>
            <a:srgbClr val="1A2D4C"/>
          </a:solidFill>
          <a:ln>
            <a:solidFill>
              <a:srgbClr val="2B42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46520" y="3483864"/>
            <a:ext cx="4709159" cy="25603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900" b="1">
                <a:solidFill>
                  <a:srgbClr val="A4B4CA"/>
                </a:solidFill>
                <a:latin typeface="Aptos"/>
              </a:defRPr>
            </a:pPr>
            <a:r>
              <a:t>PIVOTS &amp; CHARTS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3803904"/>
            <a:ext cx="4709159" cy="53035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2500" b="1">
                <a:solidFill>
                  <a:srgbClr val="00CCB8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26581" y="3950208"/>
            <a:ext cx="4709159" cy="2286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900" b="0">
                <a:solidFill>
                  <a:srgbClr val="A4B4CA"/>
                </a:solidFill>
                <a:latin typeface="Aptos"/>
              </a:defRPr>
            </a:pPr>
            <a:r>
              <a:rPr dirty="0"/>
              <a:t>Weather, temperature and date views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7240" y="4581144"/>
            <a:ext cx="5074920" cy="960120"/>
          </a:xfrm>
          <a:prstGeom prst="roundRect">
            <a:avLst/>
          </a:prstGeom>
          <a:solidFill>
            <a:srgbClr val="1A2D4C"/>
          </a:solidFill>
          <a:ln>
            <a:solidFill>
              <a:srgbClr val="2B42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60120" y="4745736"/>
            <a:ext cx="4709159" cy="25603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900" b="1">
                <a:solidFill>
                  <a:srgbClr val="A4B4CA"/>
                </a:solidFill>
                <a:latin typeface="Aptos"/>
              </a:defRPr>
            </a:pPr>
            <a:r>
              <a:t>DASHBOARD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" y="5065776"/>
            <a:ext cx="4709159" cy="53035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2500" b="1">
                <a:solidFill>
                  <a:srgbClr val="00CCB8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71600" y="5184648"/>
            <a:ext cx="4709159" cy="2286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900" b="0">
                <a:solidFill>
                  <a:srgbClr val="A4B4CA"/>
                </a:solidFill>
                <a:latin typeface="Aptos"/>
              </a:defRPr>
            </a:pPr>
            <a:r>
              <a:t>Visual summary workspace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63640" y="4581144"/>
            <a:ext cx="5074920" cy="960120"/>
          </a:xfrm>
          <a:prstGeom prst="roundRect">
            <a:avLst/>
          </a:prstGeom>
          <a:solidFill>
            <a:srgbClr val="1A2D4C"/>
          </a:solidFill>
          <a:ln>
            <a:solidFill>
              <a:srgbClr val="2B42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46520" y="4745736"/>
            <a:ext cx="4709159" cy="25603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900" b="1">
                <a:solidFill>
                  <a:srgbClr val="A4B4CA"/>
                </a:solidFill>
                <a:latin typeface="Aptos"/>
              </a:defRPr>
            </a:pPr>
            <a:r>
              <a:t>FORECAST + ANOMALY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46520" y="5065776"/>
            <a:ext cx="4709159" cy="53035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2500" b="1">
                <a:solidFill>
                  <a:srgbClr val="00CCB8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1" y="5157216"/>
            <a:ext cx="4709159" cy="2286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900" b="0">
                <a:solidFill>
                  <a:srgbClr val="A4B4CA"/>
                </a:solidFill>
                <a:latin typeface="Aptos"/>
              </a:defRPr>
            </a:pPr>
            <a:r>
              <a:rPr dirty="0"/>
              <a:t>Forward-looking and exception views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1264724"/>
            <a:ext cx="10972800" cy="190821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000" b="1">
                <a:solidFill>
                  <a:srgbClr val="00CCB8"/>
                </a:solidFill>
                <a:latin typeface="Aptos"/>
              </a:defRPr>
            </a:pPr>
            <a:r>
              <a:rPr dirty="0">
                <a:solidFill>
                  <a:srgbClr val="002060"/>
                </a:solidFill>
              </a:rPr>
              <a:t>04 • DATA UNDERSTANDING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8096" y="1663792"/>
            <a:ext cx="10972800" cy="4678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2800" b="1">
                <a:solidFill>
                  <a:srgbClr val="F5F8FC"/>
                </a:solidFill>
                <a:latin typeface="Aptos"/>
              </a:defRPr>
            </a:pPr>
            <a:r>
              <a:rPr dirty="0">
                <a:solidFill>
                  <a:srgbClr val="002060"/>
                </a:solidFill>
              </a:rPr>
              <a:t>What each record captures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92240"/>
            <a:ext cx="502920" cy="175433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r">
              <a:defRPr sz="900" b="1">
                <a:solidFill>
                  <a:srgbClr val="00CCB8"/>
                </a:solidFill>
                <a:latin typeface="Aptos"/>
              </a:defRPr>
            </a:pPr>
            <a:r>
              <a:rPr lang="en-IN" dirty="0" smtClean="0">
                <a:solidFill>
                  <a:schemeClr val="bg1"/>
                </a:solidFill>
              </a:rPr>
              <a:t>04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77240" y="2423160"/>
            <a:ext cx="2514600" cy="1828800"/>
          </a:xfrm>
          <a:prstGeom prst="roundRect">
            <a:avLst/>
          </a:prstGeom>
          <a:solidFill>
            <a:srgbClr val="1A2D4C"/>
          </a:solidFill>
          <a:ln>
            <a:solidFill>
              <a:srgbClr val="2B42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0120" y="2587752"/>
            <a:ext cx="2148840" cy="25603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900" b="1">
                <a:solidFill>
                  <a:srgbClr val="A4B4CA"/>
                </a:solidFill>
                <a:latin typeface="Aptos"/>
              </a:defRPr>
            </a:pPr>
            <a:r>
              <a:t>TIME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907791"/>
            <a:ext cx="2148840" cy="53035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2500" b="1">
                <a:solidFill>
                  <a:srgbClr val="00CCB8"/>
                </a:solidFill>
                <a:latin typeface="Aptos"/>
              </a:defRPr>
            </a:pPr>
            <a:r>
              <a:rPr dirty="0"/>
              <a:t>Calendar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867912"/>
            <a:ext cx="2148840" cy="2286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900" b="0">
                <a:solidFill>
                  <a:srgbClr val="A4B4CA"/>
                </a:solidFill>
                <a:latin typeface="Aptos"/>
              </a:defRPr>
            </a:pPr>
            <a:r>
              <a:t>Date • Hour • Weekday • Holiday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93592" y="2423160"/>
            <a:ext cx="2514600" cy="1828800"/>
          </a:xfrm>
          <a:prstGeom prst="roundRect">
            <a:avLst/>
          </a:prstGeom>
          <a:solidFill>
            <a:srgbClr val="1A2D4C"/>
          </a:solidFill>
          <a:ln>
            <a:solidFill>
              <a:srgbClr val="2B42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776472" y="2587752"/>
            <a:ext cx="2148840" cy="25603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900" b="1">
                <a:solidFill>
                  <a:srgbClr val="A4B4CA"/>
                </a:solidFill>
                <a:latin typeface="Aptos"/>
              </a:defRPr>
            </a:pPr>
            <a:r>
              <a:t>WEATHER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76472" y="2907791"/>
            <a:ext cx="2148840" cy="53035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2500" b="1">
                <a:solidFill>
                  <a:srgbClr val="4D8EFF"/>
                </a:solidFill>
                <a:latin typeface="Aptos"/>
              </a:defRPr>
            </a:pPr>
            <a:r>
              <a:t>Conditions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76472" y="3867912"/>
            <a:ext cx="2148840" cy="2286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900" b="0">
                <a:solidFill>
                  <a:srgbClr val="A4B4CA"/>
                </a:solidFill>
                <a:latin typeface="Aptos"/>
              </a:defRPr>
            </a:pPr>
            <a:r>
              <a:t>Weather situation • Temperature • Feels-like temp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9944" y="2423160"/>
            <a:ext cx="2514600" cy="1828800"/>
          </a:xfrm>
          <a:prstGeom prst="roundRect">
            <a:avLst/>
          </a:prstGeom>
          <a:solidFill>
            <a:srgbClr val="1A2D4C"/>
          </a:solidFill>
          <a:ln>
            <a:solidFill>
              <a:srgbClr val="2B42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92824" y="2587752"/>
            <a:ext cx="2148840" cy="25603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900" b="1">
                <a:solidFill>
                  <a:srgbClr val="A4B4CA"/>
                </a:solidFill>
                <a:latin typeface="Aptos"/>
              </a:defRPr>
            </a:pPr>
            <a:r>
              <a:t>ENVIRONMENT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92824" y="2907791"/>
            <a:ext cx="2148840" cy="53035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2500" b="1">
                <a:solidFill>
                  <a:srgbClr val="FFBE5C"/>
                </a:solidFill>
                <a:latin typeface="Aptos"/>
              </a:defRPr>
            </a:pPr>
            <a:r>
              <a:t>Context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92824" y="3867912"/>
            <a:ext cx="2148840" cy="2286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900" b="0">
                <a:solidFill>
                  <a:srgbClr val="A4B4CA"/>
                </a:solidFill>
                <a:latin typeface="Aptos"/>
              </a:defRPr>
            </a:pPr>
            <a:r>
              <a:t>Humidity • Wind speed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226296" y="2423160"/>
            <a:ext cx="2514600" cy="1828800"/>
          </a:xfrm>
          <a:prstGeom prst="roundRect">
            <a:avLst/>
          </a:prstGeom>
          <a:solidFill>
            <a:srgbClr val="1A2D4C"/>
          </a:solidFill>
          <a:ln>
            <a:solidFill>
              <a:srgbClr val="2B42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409176" y="2587752"/>
            <a:ext cx="2148840" cy="25603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900" b="1">
                <a:solidFill>
                  <a:srgbClr val="A4B4CA"/>
                </a:solidFill>
                <a:latin typeface="Aptos"/>
              </a:defRPr>
            </a:pPr>
            <a:r>
              <a:t>CUSTOMERS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09176" y="2917623"/>
            <a:ext cx="2148840" cy="53035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2500" b="1">
                <a:solidFill>
                  <a:srgbClr val="FF6987"/>
                </a:solidFill>
                <a:latin typeface="Aptos"/>
              </a:defRPr>
            </a:pPr>
            <a:r>
              <a:t>Demand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09176" y="3867912"/>
            <a:ext cx="2148840" cy="2286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900" b="0">
                <a:solidFill>
                  <a:srgbClr val="A4B4CA"/>
                </a:solidFill>
                <a:latin typeface="Aptos"/>
              </a:defRPr>
            </a:pPr>
            <a:r>
              <a:t>Casual • Registered • Total Count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4846320"/>
            <a:ext cx="10424160" cy="4678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400" b="1">
                <a:solidFill>
                  <a:srgbClr val="F5F8FC"/>
                </a:solidFill>
                <a:latin typeface="Aptos"/>
              </a:defRPr>
            </a:pPr>
            <a:r>
              <a:rPr dirty="0">
                <a:solidFill>
                  <a:schemeClr val="bg1"/>
                </a:solidFill>
              </a:rPr>
              <a:t>Data grain: one row represents an hourly observation. The supplied FINAL RESULT sheet contains 1,000 populated records.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1144845"/>
            <a:ext cx="10972800" cy="190821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000" b="1">
                <a:solidFill>
                  <a:srgbClr val="00CCB8"/>
                </a:solidFill>
                <a:latin typeface="Aptos"/>
              </a:defRPr>
            </a:pPr>
            <a:r>
              <a:rPr dirty="0">
                <a:solidFill>
                  <a:srgbClr val="002060"/>
                </a:solidFill>
              </a:rPr>
              <a:t>05 • KEY PERFORMANCE INDICATORS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86593"/>
            <a:ext cx="10972800" cy="4678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2800" b="1">
                <a:solidFill>
                  <a:srgbClr val="F5F8FC"/>
                </a:solidFill>
                <a:latin typeface="Aptos"/>
              </a:defRPr>
            </a:pPr>
            <a:r>
              <a:rPr dirty="0" smtClean="0">
                <a:solidFill>
                  <a:srgbClr val="002060"/>
                </a:solidFill>
              </a:rPr>
              <a:t>Demand</a:t>
            </a:r>
            <a:r>
              <a:rPr lang="en-IN" dirty="0" smtClean="0">
                <a:solidFill>
                  <a:srgbClr val="002060"/>
                </a:solidFill>
              </a:rPr>
              <a:t> Records</a:t>
            </a:r>
            <a:endParaRPr dirty="0">
              <a:solidFill>
                <a:srgbClr val="00206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064240" y="6492240"/>
            <a:ext cx="502920" cy="175433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r">
              <a:defRPr sz="900" b="1">
                <a:solidFill>
                  <a:srgbClr val="00CCB8"/>
                </a:solidFill>
                <a:latin typeface="Aptos"/>
              </a:defRPr>
            </a:pPr>
            <a:r>
              <a:rPr lang="en-IN" dirty="0" smtClean="0">
                <a:solidFill>
                  <a:schemeClr val="bg1"/>
                </a:solidFill>
              </a:rPr>
              <a:t>05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77240" y="2103120"/>
            <a:ext cx="3246120" cy="1417320"/>
          </a:xfrm>
          <a:prstGeom prst="roundRect">
            <a:avLst/>
          </a:prstGeom>
          <a:solidFill>
            <a:srgbClr val="1A2D4C"/>
          </a:solidFill>
          <a:ln>
            <a:solidFill>
              <a:srgbClr val="2B42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0120" y="2267712"/>
            <a:ext cx="2880360" cy="25603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900" b="1">
                <a:solidFill>
                  <a:srgbClr val="A4B4CA"/>
                </a:solidFill>
                <a:latin typeface="Aptos"/>
              </a:defRPr>
            </a:pPr>
            <a:r>
              <a:t>TOTAL RENTALS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587752"/>
            <a:ext cx="2880360" cy="53035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2500" b="1">
                <a:solidFill>
                  <a:srgbClr val="00CCB8"/>
                </a:solidFill>
                <a:latin typeface="Aptos"/>
              </a:defRPr>
            </a:pPr>
            <a:r>
              <a:t>58,304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136391"/>
            <a:ext cx="2880360" cy="2286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900" b="0">
                <a:solidFill>
                  <a:srgbClr val="A4B4CA"/>
                </a:solidFill>
                <a:latin typeface="Aptos"/>
              </a:defRPr>
            </a:pPr>
            <a:r>
              <a:t>Count summed across records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80560" y="2103120"/>
            <a:ext cx="3246120" cy="1417320"/>
          </a:xfrm>
          <a:prstGeom prst="roundRect">
            <a:avLst/>
          </a:prstGeom>
          <a:solidFill>
            <a:srgbClr val="1A2D4C"/>
          </a:solidFill>
          <a:ln>
            <a:solidFill>
              <a:srgbClr val="2B42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63440" y="2267712"/>
            <a:ext cx="2880360" cy="25603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900" b="1">
                <a:solidFill>
                  <a:srgbClr val="A4B4CA"/>
                </a:solidFill>
                <a:latin typeface="Aptos"/>
              </a:defRPr>
            </a:pPr>
            <a:r>
              <a:t>REGISTERED SHARE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2587752"/>
            <a:ext cx="2880360" cy="53035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2500" b="1">
                <a:solidFill>
                  <a:srgbClr val="4D8EFF"/>
                </a:solidFill>
                <a:latin typeface="Aptos"/>
              </a:defRPr>
            </a:pPr>
            <a:r>
              <a:t>91.6%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3136391"/>
            <a:ext cx="2880360" cy="2286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900" b="0">
                <a:solidFill>
                  <a:srgbClr val="A4B4CA"/>
                </a:solidFill>
                <a:latin typeface="Aptos"/>
              </a:defRPr>
            </a:pPr>
            <a:r>
              <a:t>Registered / total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83879" y="2103120"/>
            <a:ext cx="3246120" cy="1417320"/>
          </a:xfrm>
          <a:prstGeom prst="roundRect">
            <a:avLst/>
          </a:prstGeom>
          <a:solidFill>
            <a:srgbClr val="1A2D4C"/>
          </a:solidFill>
          <a:ln>
            <a:solidFill>
              <a:srgbClr val="2B42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66759" y="2267712"/>
            <a:ext cx="2880360" cy="25603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900" b="1">
                <a:solidFill>
                  <a:srgbClr val="A4B4CA"/>
                </a:solidFill>
                <a:latin typeface="Aptos"/>
              </a:defRPr>
            </a:pPr>
            <a:r>
              <a:t>CASUAL SHARE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59" y="2587752"/>
            <a:ext cx="2880360" cy="53035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2500" b="1">
                <a:solidFill>
                  <a:srgbClr val="FFBE5C"/>
                </a:solidFill>
                <a:latin typeface="Aptos"/>
              </a:defRPr>
            </a:pPr>
            <a:r>
              <a:t>8.4%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59" y="3136391"/>
            <a:ext cx="2880360" cy="2286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900" b="0">
                <a:solidFill>
                  <a:srgbClr val="A4B4CA"/>
                </a:solidFill>
                <a:latin typeface="Aptos"/>
              </a:defRPr>
            </a:pPr>
            <a:r>
              <a:t>Casual / total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4160520"/>
            <a:ext cx="10241280" cy="28315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600" b="1">
                <a:solidFill>
                  <a:srgbClr val="F5F8FC"/>
                </a:solidFill>
                <a:latin typeface="Aptos"/>
              </a:defRPr>
            </a:pPr>
            <a:r>
              <a:rPr dirty="0">
                <a:solidFill>
                  <a:schemeClr val="bg1"/>
                </a:solidFill>
              </a:rPr>
              <a:t>Average demand per hourly record: 58.3 rentals  •  Maximum observed Count: 249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4501126"/>
            <a:ext cx="10058400" cy="190821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000" b="0">
                <a:solidFill>
                  <a:srgbClr val="A4B4CA"/>
                </a:solidFill>
                <a:latin typeface="Aptos"/>
              </a:defRPr>
            </a:pPr>
            <a:r>
              <a:rPr dirty="0">
                <a:solidFill>
                  <a:schemeClr val="bg1"/>
                </a:solidFill>
              </a:rPr>
              <a:t>These are recalculated directly from the populated FINAL RESULT rows; some workbook summary labels may use different ranges or logic.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190821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000" b="1">
                <a:solidFill>
                  <a:srgbClr val="00CCB8"/>
                </a:solidFill>
                <a:latin typeface="Aptos"/>
              </a:defRPr>
            </a:pPr>
            <a:r>
              <a:rPr dirty="0">
                <a:solidFill>
                  <a:srgbClr val="002060"/>
                </a:solidFill>
              </a:rPr>
              <a:t>06 • CUSTOMER SEGMENTATION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4678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2800" b="1">
                <a:solidFill>
                  <a:srgbClr val="F5F8FC"/>
                </a:solidFill>
                <a:latin typeface="Aptos"/>
              </a:defRPr>
            </a:pPr>
            <a:r>
              <a:rPr dirty="0">
                <a:solidFill>
                  <a:srgbClr val="002060"/>
                </a:solidFill>
              </a:rPr>
              <a:t>Registered riders dominate the mix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61872"/>
            <a:ext cx="10972800" cy="20621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100" b="0">
                <a:solidFill>
                  <a:srgbClr val="A4B4CA"/>
                </a:solidFill>
                <a:latin typeface="Aptos"/>
              </a:defRPr>
            </a:pPr>
            <a:r>
              <a:rPr dirty="0">
                <a:solidFill>
                  <a:schemeClr val="bg1"/>
                </a:solidFill>
              </a:rPr>
              <a:t>Customer type is a major driver of the observed rental total.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92240"/>
            <a:ext cx="502920" cy="175433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r">
              <a:defRPr sz="900" b="1">
                <a:solidFill>
                  <a:srgbClr val="00CCB8"/>
                </a:solidFill>
                <a:latin typeface="Aptos"/>
              </a:defRPr>
            </a:pPr>
            <a:r>
              <a:rPr lang="en-IN" dirty="0" smtClean="0">
                <a:solidFill>
                  <a:schemeClr val="bg1"/>
                </a:solidFill>
              </a:rPr>
              <a:t>06</a:t>
            </a:r>
            <a:endParaRPr dirty="0">
              <a:solidFill>
                <a:schemeClr val="bg1"/>
              </a:solidFill>
            </a:endParaRP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822960" y="1965960"/>
          <a:ext cx="502920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6400800" y="2148840"/>
            <a:ext cx="2057400" cy="1280160"/>
          </a:xfrm>
          <a:prstGeom prst="roundRect">
            <a:avLst/>
          </a:prstGeom>
          <a:solidFill>
            <a:srgbClr val="1A2D4C"/>
          </a:solidFill>
          <a:ln>
            <a:solidFill>
              <a:srgbClr val="2B42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83680" y="2313432"/>
            <a:ext cx="1691640" cy="25603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900" b="1">
                <a:solidFill>
                  <a:srgbClr val="A4B4CA"/>
                </a:solidFill>
                <a:latin typeface="Aptos"/>
              </a:defRPr>
            </a:pPr>
            <a:r>
              <a:t>REGISTERED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633472"/>
            <a:ext cx="1691640" cy="53035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2500" b="1">
                <a:solidFill>
                  <a:srgbClr val="4D8EFF"/>
                </a:solidFill>
                <a:latin typeface="Aptos"/>
              </a:defRPr>
            </a:pPr>
            <a:r>
              <a:rPr dirty="0"/>
              <a:t>91.6%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823960" y="2148840"/>
            <a:ext cx="2057400" cy="1280160"/>
          </a:xfrm>
          <a:prstGeom prst="roundRect">
            <a:avLst/>
          </a:prstGeom>
          <a:solidFill>
            <a:srgbClr val="1A2D4C"/>
          </a:solidFill>
          <a:ln>
            <a:solidFill>
              <a:srgbClr val="2B42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006840" y="2313432"/>
            <a:ext cx="1691640" cy="25603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900" b="1">
                <a:solidFill>
                  <a:srgbClr val="A4B4CA"/>
                </a:solidFill>
                <a:latin typeface="Aptos"/>
              </a:defRPr>
            </a:pPr>
            <a:r>
              <a:t>CASUAL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06840" y="2633472"/>
            <a:ext cx="1691640" cy="53035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2500" b="1">
                <a:solidFill>
                  <a:srgbClr val="FFBE5C"/>
                </a:solidFill>
                <a:latin typeface="Aptos"/>
              </a:defRPr>
            </a:pPr>
            <a:r>
              <a:t>8.4%</a:t>
            </a:r>
          </a:p>
        </p:txBody>
      </p:sp>
      <p:sp>
        <p:nvSpPr>
          <p:cNvPr id="15" name="Oval 14"/>
          <p:cNvSpPr/>
          <p:nvPr/>
        </p:nvSpPr>
        <p:spPr>
          <a:xfrm>
            <a:off x="6400800" y="3950208"/>
            <a:ext cx="118872" cy="118872"/>
          </a:xfrm>
          <a:prstGeom prst="ellipse">
            <a:avLst/>
          </a:prstGeom>
          <a:solidFill>
            <a:srgbClr val="00C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675120" y="3840480"/>
            <a:ext cx="4251960" cy="437043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300" b="0">
                <a:solidFill>
                  <a:srgbClr val="F5F8FC"/>
                </a:solidFill>
                <a:latin typeface="Aptos"/>
              </a:defRPr>
            </a:pPr>
            <a:r>
              <a:rPr dirty="0">
                <a:solidFill>
                  <a:schemeClr val="bg1"/>
                </a:solidFill>
              </a:rPr>
              <a:t>Registered riders account for most of the recorded demand.</a:t>
            </a:r>
          </a:p>
        </p:txBody>
      </p:sp>
      <p:sp>
        <p:nvSpPr>
          <p:cNvPr id="17" name="Oval 16"/>
          <p:cNvSpPr/>
          <p:nvPr/>
        </p:nvSpPr>
        <p:spPr>
          <a:xfrm>
            <a:off x="6400800" y="4517136"/>
            <a:ext cx="118872" cy="118872"/>
          </a:xfrm>
          <a:prstGeom prst="ellipse">
            <a:avLst/>
          </a:prstGeom>
          <a:solidFill>
            <a:srgbClr val="00C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675120" y="4407408"/>
            <a:ext cx="4251960" cy="23698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300" b="0">
                <a:solidFill>
                  <a:srgbClr val="F5F8FC"/>
                </a:solidFill>
                <a:latin typeface="Aptos"/>
              </a:defRPr>
            </a:pPr>
            <a:r>
              <a:rPr dirty="0">
                <a:solidFill>
                  <a:schemeClr val="bg1"/>
                </a:solidFill>
              </a:rPr>
              <a:t>Casual riders are a smaller but meaningful segment.</a:t>
            </a:r>
          </a:p>
        </p:txBody>
      </p:sp>
      <p:sp>
        <p:nvSpPr>
          <p:cNvPr id="19" name="Oval 18"/>
          <p:cNvSpPr/>
          <p:nvPr/>
        </p:nvSpPr>
        <p:spPr>
          <a:xfrm>
            <a:off x="6400800" y="5084064"/>
            <a:ext cx="118872" cy="118872"/>
          </a:xfrm>
          <a:prstGeom prst="ellipse">
            <a:avLst/>
          </a:prstGeom>
          <a:solidFill>
            <a:srgbClr val="00C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675120" y="4974336"/>
            <a:ext cx="4251960" cy="437043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300" b="0">
                <a:solidFill>
                  <a:srgbClr val="F5F8FC"/>
                </a:solidFill>
                <a:latin typeface="Aptos"/>
              </a:defRPr>
            </a:pPr>
            <a:r>
              <a:rPr dirty="0">
                <a:solidFill>
                  <a:schemeClr val="bg1"/>
                </a:solidFill>
              </a:rPr>
              <a:t>Retention and membership engagement are likely important levers.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190821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000" b="1">
                <a:solidFill>
                  <a:srgbClr val="00CCB8"/>
                </a:solidFill>
                <a:latin typeface="Aptos"/>
              </a:defRPr>
            </a:pPr>
            <a:r>
              <a:rPr dirty="0">
                <a:solidFill>
                  <a:srgbClr val="002060"/>
                </a:solidFill>
              </a:rPr>
              <a:t>07 • TIME PATTERNS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4678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2800" b="1">
                <a:solidFill>
                  <a:srgbClr val="F5F8FC"/>
                </a:solidFill>
                <a:latin typeface="Aptos"/>
              </a:defRPr>
            </a:pPr>
            <a:r>
              <a:rPr dirty="0">
                <a:solidFill>
                  <a:srgbClr val="002060"/>
                </a:solidFill>
              </a:rPr>
              <a:t>Demand changes by hour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61872"/>
            <a:ext cx="10972800" cy="4114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100" b="0">
                <a:solidFill>
                  <a:srgbClr val="A4B4CA"/>
                </a:solidFill>
                <a:latin typeface="Aptos"/>
              </a:defRPr>
            </a:pPr>
            <a:r>
              <a:rPr dirty="0"/>
              <a:t>Aggregate counts across the observed records by hour of day.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92240"/>
            <a:ext cx="502920" cy="175433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r">
              <a:defRPr sz="900" b="1">
                <a:solidFill>
                  <a:srgbClr val="00CCB8"/>
                </a:solidFill>
                <a:latin typeface="Aptos"/>
              </a:defRPr>
            </a:pPr>
            <a:r>
              <a:rPr lang="en-IN" dirty="0" smtClean="0">
                <a:solidFill>
                  <a:schemeClr val="bg1"/>
                </a:solidFill>
              </a:rPr>
              <a:t>07</a:t>
            </a:r>
            <a:endParaRPr dirty="0">
              <a:solidFill>
                <a:schemeClr val="bg1"/>
              </a:solidFill>
            </a:endParaRPr>
          </a:p>
        </p:txBody>
      </p:sp>
      <p:graphicFrame>
        <p:nvGraphicFramePr>
          <p:cNvPr id="8" name="Chart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424253"/>
              </p:ext>
            </p:extLst>
          </p:nvPr>
        </p:nvGraphicFramePr>
        <p:xfrm>
          <a:off x="685800" y="1965960"/>
          <a:ext cx="7315200" cy="3886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8366760" y="2194560"/>
            <a:ext cx="2834640" cy="1188720"/>
          </a:xfrm>
          <a:prstGeom prst="roundRect">
            <a:avLst/>
          </a:prstGeom>
          <a:solidFill>
            <a:srgbClr val="1A2D4C"/>
          </a:solidFill>
          <a:ln>
            <a:solidFill>
              <a:srgbClr val="2B42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549640" y="2359152"/>
            <a:ext cx="2468880" cy="25603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900" b="1">
                <a:solidFill>
                  <a:srgbClr val="A4B4CA"/>
                </a:solidFill>
                <a:latin typeface="Aptos"/>
              </a:defRPr>
            </a:pPr>
            <a:r>
              <a:t>HIGHEST AGGREGATE HOUR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49640" y="2679191"/>
            <a:ext cx="2468880" cy="53035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2500" b="1">
                <a:solidFill>
                  <a:srgbClr val="FFBE5C"/>
                </a:solidFill>
                <a:latin typeface="Aptos"/>
              </a:defRPr>
            </a:pPr>
            <a:r>
              <a:rPr dirty="0"/>
              <a:t>17:00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66760" y="3657600"/>
            <a:ext cx="2834640" cy="1188720"/>
          </a:xfrm>
          <a:prstGeom prst="roundRect">
            <a:avLst/>
          </a:prstGeom>
          <a:solidFill>
            <a:srgbClr val="1A2D4C"/>
          </a:solidFill>
          <a:ln>
            <a:solidFill>
              <a:srgbClr val="2B42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549640" y="3822191"/>
            <a:ext cx="2468880" cy="25603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900" b="1">
                <a:solidFill>
                  <a:srgbClr val="A4B4CA"/>
                </a:solidFill>
                <a:latin typeface="Aptos"/>
              </a:defRPr>
            </a:pPr>
            <a:r>
              <a:t>RENTALS IN THAT HOUR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4142232"/>
            <a:ext cx="2468880" cy="53035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2500" b="1">
                <a:solidFill>
                  <a:srgbClr val="00CCB8"/>
                </a:solidFill>
                <a:latin typeface="Aptos"/>
              </a:defRPr>
            </a:pPr>
            <a:r>
              <a:t>6,169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989320"/>
            <a:ext cx="10058400" cy="190821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000" b="0">
                <a:solidFill>
                  <a:srgbClr val="A4B4CA"/>
                </a:solidFill>
                <a:latin typeface="Aptos"/>
              </a:defRPr>
            </a:pPr>
            <a:r>
              <a:rPr>
                <a:solidFill>
                  <a:schemeClr val="bg1"/>
                </a:solidFill>
              </a:rPr>
              <a:t>Interpret peaks as patterns within the supplied 1,000-row slice, not necessarily a full-year profile.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190821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000" b="1">
                <a:solidFill>
                  <a:srgbClr val="00CCB8"/>
                </a:solidFill>
                <a:latin typeface="Aptos"/>
              </a:defRPr>
            </a:pPr>
            <a:r>
              <a:rPr dirty="0">
                <a:solidFill>
                  <a:srgbClr val="002060"/>
                </a:solidFill>
              </a:rPr>
              <a:t>08 • WEATHER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92240"/>
            <a:ext cx="502920" cy="31393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r">
              <a:defRPr sz="900" b="1">
                <a:solidFill>
                  <a:srgbClr val="00CCB8"/>
                </a:solidFill>
                <a:latin typeface="Aptos"/>
              </a:defRPr>
            </a:pPr>
            <a:r>
              <a:rPr lang="en-IN" dirty="0" smtClean="0">
                <a:solidFill>
                  <a:schemeClr val="bg1"/>
                </a:solidFill>
              </a:rPr>
              <a:t>08</a:t>
            </a:r>
          </a:p>
          <a:p>
            <a:pPr algn="r">
              <a:defRPr sz="900" b="1">
                <a:solidFill>
                  <a:srgbClr val="00CCB8"/>
                </a:solidFill>
                <a:latin typeface="Aptos"/>
              </a:defRPr>
            </a:pPr>
            <a:endParaRPr dirty="0">
              <a:solidFill>
                <a:schemeClr val="bg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94360" y="685800"/>
            <a:ext cx="10972800" cy="5943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2700" b="1">
                <a:solidFill>
                  <a:srgbClr val="0B2B5B"/>
                </a:solidFill>
                <a:latin typeface="Aptos Display"/>
              </a:defRPr>
            </a:pPr>
            <a:r>
              <a:t>Weather Analysis: Demand in Context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1345545"/>
            <a:ext cx="10972800" cy="438912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1200">
                <a:solidFill>
                  <a:srgbClr val="5C6C80"/>
                </a:solidFill>
                <a:latin typeface="Aptos"/>
              </a:defRPr>
            </a:pPr>
            <a:r>
              <a:t>Weather fields help explain changes in bike rental activity beyond time and customer type.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148840"/>
            <a:ext cx="3520440" cy="1417320"/>
          </a:xfrm>
          <a:prstGeom prst="roundRect">
            <a:avLst/>
          </a:prstGeom>
          <a:solidFill>
            <a:srgbClr val="002060"/>
          </a:solidFill>
          <a:ln>
            <a:solidFill>
              <a:srgbClr val="DEE7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90500" tIns="152400" rIns="152400" bIns="101600" rtlCol="0" anchor="ctr"/>
          <a:lstStyle/>
          <a:p>
            <a:pPr algn="ctr">
              <a:spcAft>
                <a:spcPts val="700"/>
              </a:spcAft>
              <a:defRPr sz="1500" b="1">
                <a:solidFill>
                  <a:srgbClr val="2A64B4"/>
                </a:solidFill>
                <a:latin typeface="Aptos"/>
              </a:defRPr>
            </a:pPr>
            <a:r>
              <a:rPr dirty="0">
                <a:solidFill>
                  <a:srgbClr val="0070C0"/>
                </a:solidFill>
              </a:rPr>
              <a:t>01  Weather situation</a:t>
            </a:r>
          </a:p>
          <a:p>
            <a:pPr>
              <a:spcAft>
                <a:spcPts val="500"/>
              </a:spcAft>
              <a:defRPr sz="1100">
                <a:solidFill>
                  <a:srgbClr val="263449"/>
                </a:solidFill>
                <a:latin typeface="Aptos"/>
              </a:defRPr>
            </a:pPr>
            <a:r>
              <a:rPr dirty="0">
                <a:solidFill>
                  <a:schemeClr val="tx1"/>
                </a:solidFill>
              </a:rPr>
              <a:t>Compare rental totals across the recorded weather categories.</a:t>
            </a:r>
          </a:p>
          <a:p>
            <a:pPr>
              <a:spcAft>
                <a:spcPts val="500"/>
              </a:spcAft>
              <a:defRPr sz="1100">
                <a:solidFill>
                  <a:srgbClr val="263449"/>
                </a:solidFill>
                <a:latin typeface="Aptos"/>
              </a:defRPr>
            </a:pPr>
            <a:r>
              <a:rPr dirty="0">
                <a:solidFill>
                  <a:schemeClr val="tx1"/>
                </a:solidFill>
              </a:rPr>
              <a:t>Use category labels consistently when grouping the data.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2148840"/>
            <a:ext cx="3520440" cy="1417320"/>
          </a:xfrm>
          <a:prstGeom prst="roundRect">
            <a:avLst/>
          </a:prstGeom>
          <a:solidFill>
            <a:srgbClr val="002060"/>
          </a:solidFill>
          <a:ln>
            <a:solidFill>
              <a:srgbClr val="DEE7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90500" tIns="152400" rIns="152400" bIns="101600" rtlCol="0" anchor="ctr"/>
          <a:lstStyle/>
          <a:p>
            <a:pPr algn="ctr">
              <a:spcAft>
                <a:spcPts val="700"/>
              </a:spcAft>
              <a:defRPr sz="1500" b="1">
                <a:solidFill>
                  <a:srgbClr val="2A64B4"/>
                </a:solidFill>
                <a:latin typeface="Aptos"/>
              </a:defRPr>
            </a:pPr>
            <a:r>
              <a:rPr dirty="0">
                <a:solidFill>
                  <a:srgbClr val="FFC000"/>
                </a:solidFill>
              </a:rPr>
              <a:t>02  Humidity &amp; wind</a:t>
            </a:r>
          </a:p>
          <a:p>
            <a:pPr>
              <a:spcAft>
                <a:spcPts val="500"/>
              </a:spcAft>
              <a:defRPr sz="1100">
                <a:solidFill>
                  <a:srgbClr val="263449"/>
                </a:solidFill>
                <a:latin typeface="Aptos"/>
              </a:defRPr>
            </a:pPr>
            <a:r>
              <a:rPr dirty="0">
                <a:solidFill>
                  <a:schemeClr val="tx1"/>
                </a:solidFill>
              </a:rPr>
              <a:t>Humidity and wind speed provide environmental context.</a:t>
            </a:r>
          </a:p>
          <a:p>
            <a:pPr>
              <a:spcAft>
                <a:spcPts val="500"/>
              </a:spcAft>
              <a:defRPr sz="1100">
                <a:solidFill>
                  <a:srgbClr val="263449"/>
                </a:solidFill>
                <a:latin typeface="Aptos"/>
              </a:defRPr>
            </a:pPr>
            <a:r>
              <a:rPr dirty="0">
                <a:solidFill>
                  <a:schemeClr val="tx1"/>
                </a:solidFill>
              </a:rPr>
              <a:t>Check whether high or low values coincide with demand changes.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2148840"/>
            <a:ext cx="3520440" cy="1417320"/>
          </a:xfrm>
          <a:prstGeom prst="roundRect">
            <a:avLst/>
          </a:prstGeom>
          <a:solidFill>
            <a:srgbClr val="002060"/>
          </a:solidFill>
          <a:ln>
            <a:solidFill>
              <a:srgbClr val="DEE7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90500" tIns="152400" rIns="152400" bIns="101600" rtlCol="0" anchor="ctr"/>
          <a:lstStyle/>
          <a:p>
            <a:pPr algn="ctr">
              <a:spcAft>
                <a:spcPts val="700"/>
              </a:spcAft>
              <a:defRPr sz="1500" b="1">
                <a:solidFill>
                  <a:srgbClr val="2A64B4"/>
                </a:solidFill>
                <a:latin typeface="Aptos"/>
              </a:defRPr>
            </a:pPr>
            <a:r>
              <a:rPr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03  Business interpretation</a:t>
            </a:r>
          </a:p>
          <a:p>
            <a:pPr>
              <a:spcAft>
                <a:spcPts val="500"/>
              </a:spcAft>
              <a:defRPr sz="1100">
                <a:solidFill>
                  <a:srgbClr val="263449"/>
                </a:solidFill>
                <a:latin typeface="Aptos"/>
              </a:defRPr>
            </a:pPr>
            <a:r>
              <a:rPr dirty="0">
                <a:solidFill>
                  <a:schemeClr val="tx1"/>
                </a:solidFill>
              </a:rPr>
              <a:t>Weather may influence comfort and willingness to ride.</a:t>
            </a:r>
          </a:p>
          <a:p>
            <a:pPr>
              <a:spcAft>
                <a:spcPts val="500"/>
              </a:spcAft>
              <a:defRPr sz="1100">
                <a:solidFill>
                  <a:srgbClr val="263449"/>
                </a:solidFill>
                <a:latin typeface="Aptos"/>
              </a:defRPr>
            </a:pPr>
            <a:r>
              <a:rPr dirty="0">
                <a:solidFill>
                  <a:schemeClr val="tx1"/>
                </a:solidFill>
              </a:rPr>
              <a:t>Treat patterns as associations, not proof of causation.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977639"/>
            <a:ext cx="10927080" cy="1508760"/>
          </a:xfrm>
          <a:prstGeom prst="roundRect">
            <a:avLst/>
          </a:prstGeom>
          <a:solidFill>
            <a:srgbClr val="BDD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65100" rIns="203200" rtlCol="0" anchor="ctr"/>
          <a:lstStyle/>
          <a:p>
            <a:pPr>
              <a:spcAft>
                <a:spcPts val="700"/>
              </a:spcAft>
              <a:defRPr sz="1200">
                <a:solidFill>
                  <a:srgbClr val="263449"/>
                </a:solidFill>
              </a:defRPr>
            </a:pPr>
            <a:r>
              <a:rPr lang="en-IN" sz="1600" b="1" dirty="0" smtClean="0">
                <a:solidFill>
                  <a:srgbClr val="002060"/>
                </a:solidFill>
              </a:rPr>
              <a:t>ANALYSIS APPROACH</a:t>
            </a:r>
          </a:p>
          <a:p>
            <a:pPr>
              <a:spcAft>
                <a:spcPts val="700"/>
              </a:spcAft>
              <a:defRPr sz="1200">
                <a:solidFill>
                  <a:srgbClr val="263449"/>
                </a:solidFill>
              </a:defRPr>
            </a:pPr>
            <a:r>
              <a:rPr dirty="0" smtClean="0"/>
              <a:t>•  Group records by weather situation and compare total or average Count.</a:t>
            </a:r>
          </a:p>
          <a:p>
            <a:pPr>
              <a:spcAft>
                <a:spcPts val="700"/>
              </a:spcAft>
              <a:defRPr sz="1200">
                <a:solidFill>
                  <a:srgbClr val="263449"/>
                </a:solidFill>
              </a:defRPr>
            </a:pPr>
            <a:r>
              <a:rPr dirty="0" smtClean="0"/>
              <a:t>•  Review humidity and wind speed alongside temperature and hour of day.</a:t>
            </a:r>
          </a:p>
          <a:p>
            <a:pPr>
              <a:spcAft>
                <a:spcPts val="700"/>
              </a:spcAft>
              <a:defRPr sz="1200">
                <a:solidFill>
                  <a:srgbClr val="263449"/>
                </a:solidFill>
              </a:defRPr>
            </a:pPr>
            <a:r>
              <a:rPr dirty="0" smtClean="0"/>
              <a:t>•  This presentation uses a 1,000-record sample; confirm the full dataset before making broad claims.</a:t>
            </a:r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70880"/>
            <a:ext cx="10972800" cy="190821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000" b="1">
                <a:solidFill>
                  <a:srgbClr val="00CCB8"/>
                </a:solidFill>
                <a:latin typeface="Aptos"/>
              </a:defRPr>
            </a:pPr>
            <a:r>
              <a:rPr>
                <a:solidFill>
                  <a:srgbClr val="002060"/>
                </a:solidFill>
              </a:rPr>
              <a:t>09 • TEMPERATURE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92240"/>
            <a:ext cx="502920" cy="175433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r">
              <a:defRPr sz="900" b="1">
                <a:solidFill>
                  <a:srgbClr val="00CCB8"/>
                </a:solidFill>
                <a:latin typeface="Aptos"/>
              </a:defRPr>
            </a:pPr>
            <a:r>
              <a:rPr lang="en-IN" dirty="0" smtClean="0">
                <a:solidFill>
                  <a:schemeClr val="bg1"/>
                </a:solidFill>
              </a:rPr>
              <a:t>09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94360" y="685800"/>
            <a:ext cx="10972800" cy="5943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2700" b="1">
                <a:solidFill>
                  <a:srgbClr val="0B2B5B"/>
                </a:solidFill>
                <a:latin typeface="Aptos Display"/>
              </a:defRPr>
            </a:pPr>
            <a:r>
              <a:t>Temperature &amp; Perceived Temperature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1306216"/>
            <a:ext cx="10972800" cy="438912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1200">
                <a:solidFill>
                  <a:srgbClr val="5C6C80"/>
                </a:solidFill>
                <a:latin typeface="Aptos"/>
              </a:defRPr>
            </a:pPr>
            <a:r>
              <a:t>Temperature features help compare riding demand under different thermal conditions.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148840"/>
            <a:ext cx="3520440" cy="1508760"/>
          </a:xfrm>
          <a:prstGeom prst="roundRect">
            <a:avLst/>
          </a:prstGeom>
          <a:solidFill>
            <a:srgbClr val="002060"/>
          </a:solidFill>
          <a:ln>
            <a:solidFill>
              <a:srgbClr val="DEE7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90500" tIns="152400" rIns="152400" bIns="101600" rtlCol="0" anchor="ctr"/>
          <a:lstStyle/>
          <a:p>
            <a:pPr algn="ctr">
              <a:spcAft>
                <a:spcPts val="700"/>
              </a:spcAft>
              <a:defRPr sz="1500" b="1">
                <a:solidFill>
                  <a:srgbClr val="2A64B4"/>
                </a:solidFill>
                <a:latin typeface="Aptos"/>
              </a:defRPr>
            </a:pPr>
            <a:r>
              <a:rPr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01  Temperature</a:t>
            </a:r>
          </a:p>
          <a:p>
            <a:pPr>
              <a:spcAft>
                <a:spcPts val="500"/>
              </a:spcAft>
              <a:defRPr sz="1100">
                <a:solidFill>
                  <a:srgbClr val="263449"/>
                </a:solidFill>
                <a:latin typeface="Aptos"/>
              </a:defRPr>
            </a:pPr>
            <a:r>
              <a:rPr dirty="0">
                <a:solidFill>
                  <a:schemeClr val="tx1"/>
                </a:solidFill>
              </a:rPr>
              <a:t>Represents the recorded ambient temperature.</a:t>
            </a:r>
          </a:p>
          <a:p>
            <a:pPr>
              <a:spcAft>
                <a:spcPts val="500"/>
              </a:spcAft>
              <a:defRPr sz="1100">
                <a:solidFill>
                  <a:srgbClr val="263449"/>
                </a:solidFill>
                <a:latin typeface="Aptos"/>
              </a:defRPr>
            </a:pPr>
            <a:r>
              <a:rPr dirty="0">
                <a:solidFill>
                  <a:schemeClr val="tx1"/>
                </a:solidFill>
              </a:rPr>
              <a:t>Compare rental levels across temperature ranges.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2148840"/>
            <a:ext cx="3520440" cy="1508760"/>
          </a:xfrm>
          <a:prstGeom prst="roundRect">
            <a:avLst/>
          </a:prstGeom>
          <a:solidFill>
            <a:srgbClr val="002060"/>
          </a:solidFill>
          <a:ln>
            <a:solidFill>
              <a:srgbClr val="DEE7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90500" tIns="152400" rIns="152400" bIns="101600" rtlCol="0" anchor="ctr"/>
          <a:lstStyle/>
          <a:p>
            <a:pPr algn="ctr">
              <a:spcAft>
                <a:spcPts val="700"/>
              </a:spcAft>
              <a:defRPr sz="1500" b="1">
                <a:solidFill>
                  <a:srgbClr val="2A64B4"/>
                </a:solidFill>
                <a:latin typeface="Aptos"/>
              </a:defRPr>
            </a:pPr>
            <a:r>
              <a:rPr dirty="0">
                <a:solidFill>
                  <a:srgbClr val="00B0F0"/>
                </a:solidFill>
              </a:rPr>
              <a:t>02  Feels-like temperature</a:t>
            </a:r>
          </a:p>
          <a:p>
            <a:pPr>
              <a:spcAft>
                <a:spcPts val="500"/>
              </a:spcAft>
              <a:defRPr sz="1100">
                <a:solidFill>
                  <a:srgbClr val="263449"/>
                </a:solidFill>
                <a:latin typeface="Aptos"/>
              </a:defRPr>
            </a:pPr>
            <a:r>
              <a:rPr dirty="0">
                <a:solidFill>
                  <a:schemeClr val="tx1"/>
                </a:solidFill>
              </a:rPr>
              <a:t>Captures perceived thermal conditions in the dataset.</a:t>
            </a:r>
          </a:p>
          <a:p>
            <a:pPr>
              <a:spcAft>
                <a:spcPts val="500"/>
              </a:spcAft>
              <a:defRPr sz="1100">
                <a:solidFill>
                  <a:srgbClr val="263449"/>
                </a:solidFill>
                <a:latin typeface="Aptos"/>
              </a:defRPr>
            </a:pPr>
            <a:r>
              <a:rPr dirty="0">
                <a:solidFill>
                  <a:schemeClr val="tx1"/>
                </a:solidFill>
              </a:rPr>
              <a:t>Compare it with actual temperature to add context.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2148840"/>
            <a:ext cx="3520440" cy="1508760"/>
          </a:xfrm>
          <a:prstGeom prst="roundRect">
            <a:avLst/>
          </a:prstGeom>
          <a:solidFill>
            <a:srgbClr val="002060"/>
          </a:solidFill>
          <a:ln>
            <a:solidFill>
              <a:srgbClr val="DEE7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90500" tIns="152400" rIns="152400" bIns="101600" rtlCol="0" anchor="ctr"/>
          <a:lstStyle/>
          <a:p>
            <a:pPr algn="ctr">
              <a:spcAft>
                <a:spcPts val="700"/>
              </a:spcAft>
              <a:defRPr sz="1500" b="1">
                <a:solidFill>
                  <a:srgbClr val="2A64B4"/>
                </a:solidFill>
                <a:latin typeface="Aptos"/>
              </a:defRPr>
            </a:pPr>
            <a:r>
              <a:rPr dirty="0">
                <a:solidFill>
                  <a:srgbClr val="FFC000"/>
                </a:solidFill>
              </a:rPr>
              <a:t>03  Demand relationship</a:t>
            </a:r>
          </a:p>
          <a:p>
            <a:pPr>
              <a:spcAft>
                <a:spcPts val="500"/>
              </a:spcAft>
              <a:defRPr sz="1100">
                <a:solidFill>
                  <a:srgbClr val="263449"/>
                </a:solidFill>
                <a:latin typeface="Aptos"/>
              </a:defRPr>
            </a:pPr>
            <a:r>
              <a:rPr dirty="0">
                <a:solidFill>
                  <a:schemeClr val="tx1"/>
                </a:solidFill>
              </a:rPr>
              <a:t>Look for ranges where rental activity rises or falls.</a:t>
            </a:r>
          </a:p>
          <a:p>
            <a:pPr>
              <a:spcAft>
                <a:spcPts val="500"/>
              </a:spcAft>
              <a:defRPr sz="1100">
                <a:solidFill>
                  <a:srgbClr val="263449"/>
                </a:solidFill>
                <a:latin typeface="Aptos"/>
              </a:defRPr>
            </a:pPr>
            <a:r>
              <a:rPr dirty="0">
                <a:solidFill>
                  <a:schemeClr val="tx1"/>
                </a:solidFill>
              </a:rPr>
              <a:t>Check hourly and weather differences before interpreting.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069080"/>
            <a:ext cx="10927080" cy="1417320"/>
          </a:xfrm>
          <a:prstGeom prst="roundRect">
            <a:avLst/>
          </a:prstGeom>
          <a:solidFill>
            <a:srgbClr val="BDD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65100" rIns="203200" rtlCol="0" anchor="ctr"/>
          <a:lstStyle/>
          <a:p>
            <a:pPr>
              <a:spcAft>
                <a:spcPts val="600"/>
              </a:spcAft>
              <a:defRPr sz="1200">
                <a:solidFill>
                  <a:srgbClr val="263449"/>
                </a:solidFill>
              </a:defRPr>
            </a:pPr>
            <a:r>
              <a:rPr lang="en-US" sz="1600" b="1" dirty="0">
                <a:solidFill>
                  <a:srgbClr val="002060"/>
                </a:solidFill>
              </a:rPr>
              <a:t>HOW TO USE THIS INSIGHT</a:t>
            </a:r>
          </a:p>
          <a:p>
            <a:pPr>
              <a:spcAft>
                <a:spcPts val="600"/>
              </a:spcAft>
              <a:defRPr sz="1200">
                <a:solidFill>
                  <a:srgbClr val="263449"/>
                </a:solidFill>
              </a:defRPr>
            </a:pPr>
            <a:r>
              <a:rPr dirty="0" smtClean="0"/>
              <a:t>•  </a:t>
            </a:r>
            <a:r>
              <a:rPr dirty="0"/>
              <a:t>Compare average Count by temperature band rather than relying on individual rows.</a:t>
            </a:r>
          </a:p>
          <a:p>
            <a:pPr>
              <a:spcAft>
                <a:spcPts val="600"/>
              </a:spcAft>
              <a:defRPr sz="1200">
                <a:solidFill>
                  <a:srgbClr val="263449"/>
                </a:solidFill>
              </a:defRPr>
            </a:pPr>
            <a:r>
              <a:rPr dirty="0"/>
              <a:t>•  Use the same method for temperature and feels-like temperature to make the comparison fair.</a:t>
            </a:r>
          </a:p>
          <a:p>
            <a:pPr>
              <a:spcAft>
                <a:spcPts val="600"/>
              </a:spcAft>
              <a:defRPr sz="1200">
                <a:solidFill>
                  <a:srgbClr val="263449"/>
                </a:solidFill>
              </a:defRPr>
            </a:pPr>
            <a:r>
              <a:rPr dirty="0"/>
              <a:t>•  The current sample supports exploratory analysis; it does not establish a causal relationship.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4192" y="339704"/>
            <a:ext cx="10972800" cy="190821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000" b="1">
                <a:solidFill>
                  <a:srgbClr val="00CCB8"/>
                </a:solidFill>
                <a:latin typeface="Aptos"/>
              </a:defRPr>
            </a:pPr>
            <a:r>
              <a:rPr dirty="0">
                <a:solidFill>
                  <a:srgbClr val="002060"/>
                </a:solidFill>
              </a:rPr>
              <a:t>10 • CALENDAR PATTERNS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4678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2800" b="1">
                <a:solidFill>
                  <a:srgbClr val="F5F8FC"/>
                </a:solidFill>
                <a:latin typeface="Aptos"/>
              </a:defRPr>
            </a:pPr>
            <a:r>
              <a:rPr>
                <a:solidFill>
                  <a:srgbClr val="002060"/>
                </a:solidFill>
              </a:rPr>
              <a:t>Daily totals provide a trend lens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1624" y="1281536"/>
            <a:ext cx="10972800" cy="4114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100" b="0">
                <a:solidFill>
                  <a:srgbClr val="A4B4CA"/>
                </a:solidFill>
                <a:latin typeface="Aptos"/>
              </a:defRPr>
            </a:pPr>
            <a:r>
              <a:t>Date-based aggregation can expose spikes, dips and changing demand.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92240"/>
            <a:ext cx="502920" cy="175433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r">
              <a:defRPr sz="900" b="1">
                <a:solidFill>
                  <a:srgbClr val="00CCB8"/>
                </a:solidFill>
                <a:latin typeface="Aptos"/>
              </a:defRPr>
            </a:pPr>
            <a:r>
              <a:rPr dirty="0" smtClean="0">
                <a:solidFill>
                  <a:schemeClr val="bg1"/>
                </a:solidFill>
              </a:rPr>
              <a:t>1</a:t>
            </a:r>
            <a:r>
              <a:rPr lang="en-IN" dirty="0" smtClean="0">
                <a:solidFill>
                  <a:schemeClr val="bg1"/>
                </a:solidFill>
              </a:rPr>
              <a:t>0</a:t>
            </a:r>
            <a:endParaRPr dirty="0">
              <a:solidFill>
                <a:schemeClr val="bg1"/>
              </a:solidFill>
            </a:endParaRPr>
          </a:p>
        </p:txBody>
      </p:sp>
      <p:graphicFrame>
        <p:nvGraphicFramePr>
          <p:cNvPr id="8" name="Chart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1145124"/>
              </p:ext>
            </p:extLst>
          </p:nvPr>
        </p:nvGraphicFramePr>
        <p:xfrm>
          <a:off x="731520" y="1965960"/>
          <a:ext cx="7589520" cy="3886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8641080" y="2331720"/>
            <a:ext cx="2423160" cy="1280160"/>
          </a:xfrm>
          <a:prstGeom prst="roundRect">
            <a:avLst/>
          </a:prstGeom>
          <a:solidFill>
            <a:srgbClr val="1A2D4C"/>
          </a:solidFill>
          <a:ln>
            <a:solidFill>
              <a:srgbClr val="2B42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823959" y="2496312"/>
            <a:ext cx="2057400" cy="25603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900" b="1">
                <a:solidFill>
                  <a:srgbClr val="A4B4CA"/>
                </a:solidFill>
                <a:latin typeface="Aptos"/>
              </a:defRPr>
            </a:pPr>
            <a:r>
              <a:t>HIGHEST DAILY TOTAL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23959" y="2816352"/>
            <a:ext cx="2057400" cy="53035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2500" b="1">
                <a:solidFill>
                  <a:srgbClr val="FFBE5C"/>
                </a:solidFill>
                <a:latin typeface="Aptos"/>
              </a:defRPr>
            </a:pPr>
            <a:r>
              <a:t>1,985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23959" y="3227832"/>
            <a:ext cx="2057400" cy="2286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900" b="0">
                <a:solidFill>
                  <a:srgbClr val="A4B4CA"/>
                </a:solidFill>
                <a:latin typeface="Aptos"/>
              </a:defRPr>
            </a:pPr>
            <a:r>
              <a:t>25 Jan 2011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41080" y="3931920"/>
            <a:ext cx="2468880" cy="9144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300" b="1">
                <a:solidFill>
                  <a:srgbClr val="F5F8FC"/>
                </a:solidFill>
                <a:latin typeface="Aptos"/>
              </a:defRPr>
            </a:pPr>
            <a:r>
              <a:t>Use a complete date range for seasonality conclusions.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190821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000" b="1">
                <a:solidFill>
                  <a:srgbClr val="00CCB8"/>
                </a:solidFill>
                <a:latin typeface="Aptos"/>
              </a:defRPr>
            </a:pPr>
            <a:r>
              <a:rPr dirty="0">
                <a:solidFill>
                  <a:srgbClr val="002060"/>
                </a:solidFill>
              </a:rPr>
              <a:t>11 • STATISTICAL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19" y="705464"/>
            <a:ext cx="10972800" cy="4678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2800" b="1">
                <a:solidFill>
                  <a:srgbClr val="F5F8FC"/>
                </a:solidFill>
                <a:latin typeface="Aptos"/>
              </a:defRPr>
            </a:pPr>
            <a:r>
              <a:rPr dirty="0">
                <a:solidFill>
                  <a:srgbClr val="002060"/>
                </a:solidFill>
              </a:rPr>
              <a:t>Descriptive statistics &amp; spreadsheet functions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61872"/>
            <a:ext cx="10972800" cy="4114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100" b="0">
                <a:solidFill>
                  <a:srgbClr val="A4B4CA"/>
                </a:solidFill>
                <a:latin typeface="Aptos"/>
              </a:defRPr>
            </a:pPr>
            <a:r>
              <a:t>The workbook demonstrates core summary measures and conditional calculations.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92240"/>
            <a:ext cx="502920" cy="175433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r">
              <a:defRPr sz="900" b="1">
                <a:solidFill>
                  <a:srgbClr val="00CCB8"/>
                </a:solidFill>
                <a:latin typeface="Aptos"/>
              </a:defRPr>
            </a:pPr>
            <a:r>
              <a:rPr lang="en-IN" dirty="0" smtClean="0">
                <a:solidFill>
                  <a:schemeClr val="bg1"/>
                </a:solidFill>
              </a:rPr>
              <a:t>11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77240" y="2148840"/>
            <a:ext cx="3383280" cy="1143000"/>
          </a:xfrm>
          <a:prstGeom prst="roundRect">
            <a:avLst/>
          </a:prstGeom>
          <a:solidFill>
            <a:srgbClr val="1A2D4C"/>
          </a:solidFill>
          <a:ln>
            <a:solidFill>
              <a:srgbClr val="2B42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0120" y="2313432"/>
            <a:ext cx="3017520" cy="25603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900" b="1">
                <a:solidFill>
                  <a:srgbClr val="A4B4CA"/>
                </a:solidFill>
                <a:latin typeface="Aptos"/>
              </a:defRPr>
            </a:pPr>
            <a:r>
              <a:t>MEAN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633472"/>
            <a:ext cx="3017520" cy="53035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2500" b="1">
                <a:solidFill>
                  <a:srgbClr val="00CCB8"/>
                </a:solidFill>
                <a:latin typeface="Aptos"/>
              </a:defRPr>
            </a:pPr>
            <a:r>
              <a:rPr dirty="0"/>
              <a:t>AVERAGE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008327"/>
            <a:ext cx="3017520" cy="2286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900" b="0">
                <a:solidFill>
                  <a:srgbClr val="A4B4CA"/>
                </a:solidFill>
                <a:latin typeface="Aptos"/>
              </a:defRPr>
            </a:pPr>
            <a:r>
              <a:t>Average demand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26279" y="2148840"/>
            <a:ext cx="3383280" cy="1143000"/>
          </a:xfrm>
          <a:prstGeom prst="roundRect">
            <a:avLst/>
          </a:prstGeom>
          <a:solidFill>
            <a:srgbClr val="1A2D4C"/>
          </a:solidFill>
          <a:ln>
            <a:solidFill>
              <a:srgbClr val="2B42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709159" y="2313432"/>
            <a:ext cx="3017520" cy="25603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900" b="1">
                <a:solidFill>
                  <a:srgbClr val="A4B4CA"/>
                </a:solidFill>
                <a:latin typeface="Aptos"/>
              </a:defRPr>
            </a:pPr>
            <a:r>
              <a:t>MINIMUM / MAXIMUM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9159" y="2633472"/>
            <a:ext cx="3017520" cy="53035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2500" b="1">
                <a:solidFill>
                  <a:srgbClr val="4D8EFF"/>
                </a:solidFill>
                <a:latin typeface="Aptos"/>
              </a:defRPr>
            </a:pPr>
            <a:r>
              <a:t>MIN / MAX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12108" y="3008327"/>
            <a:ext cx="3017520" cy="2286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900" b="0">
                <a:solidFill>
                  <a:srgbClr val="A4B4CA"/>
                </a:solidFill>
                <a:latin typeface="Aptos"/>
              </a:defRPr>
            </a:pPr>
            <a:r>
              <a:t>Observed range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75319" y="2148840"/>
            <a:ext cx="3383280" cy="1143000"/>
          </a:xfrm>
          <a:prstGeom prst="roundRect">
            <a:avLst/>
          </a:prstGeom>
          <a:solidFill>
            <a:srgbClr val="1A2D4C"/>
          </a:solidFill>
          <a:ln>
            <a:solidFill>
              <a:srgbClr val="2B42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458199" y="2313432"/>
            <a:ext cx="3017520" cy="25603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900" b="1">
                <a:solidFill>
                  <a:srgbClr val="A4B4CA"/>
                </a:solidFill>
                <a:latin typeface="Aptos"/>
              </a:defRPr>
            </a:pPr>
            <a:r>
              <a:t>STANDARD DEVIATION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199" y="2633472"/>
            <a:ext cx="3017520" cy="53035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2500" b="1">
                <a:solidFill>
                  <a:srgbClr val="FFBE5C"/>
                </a:solidFill>
                <a:latin typeface="Aptos"/>
              </a:defRPr>
            </a:pPr>
            <a:r>
              <a:t>STDEV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58199" y="3008327"/>
            <a:ext cx="3017520" cy="2286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900" b="0">
                <a:solidFill>
                  <a:srgbClr val="A4B4CA"/>
                </a:solidFill>
                <a:latin typeface="Aptos"/>
              </a:defRPr>
            </a:pPr>
            <a:r>
              <a:t>Demand variability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3657600"/>
            <a:ext cx="3383280" cy="1143000"/>
          </a:xfrm>
          <a:prstGeom prst="roundRect">
            <a:avLst/>
          </a:prstGeom>
          <a:solidFill>
            <a:srgbClr val="1A2D4C"/>
          </a:solidFill>
          <a:ln>
            <a:solidFill>
              <a:srgbClr val="2B42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60120" y="3822191"/>
            <a:ext cx="3017520" cy="25603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900" b="1">
                <a:solidFill>
                  <a:srgbClr val="A4B4CA"/>
                </a:solidFill>
                <a:latin typeface="Aptos"/>
              </a:defRPr>
            </a:pPr>
            <a:r>
              <a:t>COUNTIF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4142232"/>
            <a:ext cx="3017520" cy="53035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2500" b="1">
                <a:solidFill>
                  <a:srgbClr val="FF6987"/>
                </a:solidFill>
                <a:latin typeface="Aptos"/>
              </a:defRPr>
            </a:pPr>
            <a:r>
              <a:t>COUNTIF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4489705"/>
            <a:ext cx="3017520" cy="2286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900" b="0">
                <a:solidFill>
                  <a:srgbClr val="A4B4CA"/>
                </a:solidFill>
                <a:latin typeface="Aptos"/>
              </a:defRPr>
            </a:pPr>
            <a:r>
              <a:t>Count records meeting a threshold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26279" y="3657600"/>
            <a:ext cx="3383280" cy="1143000"/>
          </a:xfrm>
          <a:prstGeom prst="roundRect">
            <a:avLst/>
          </a:prstGeom>
          <a:solidFill>
            <a:srgbClr val="1A2D4C"/>
          </a:solidFill>
          <a:ln>
            <a:solidFill>
              <a:srgbClr val="2B42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709159" y="3822191"/>
            <a:ext cx="3017520" cy="25603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900" b="1">
                <a:solidFill>
                  <a:srgbClr val="A4B4CA"/>
                </a:solidFill>
                <a:latin typeface="Aptos"/>
              </a:defRPr>
            </a:pPr>
            <a:r>
              <a:t>SUMIF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09159" y="4142232"/>
            <a:ext cx="3017520" cy="53035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2500" b="1">
                <a:solidFill>
                  <a:srgbClr val="00CCB8"/>
                </a:solidFill>
                <a:latin typeface="Aptos"/>
              </a:defRPr>
            </a:pPr>
            <a:r>
              <a:t>SUMIF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12108" y="4521708"/>
            <a:ext cx="3017520" cy="2286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900" b="0">
                <a:solidFill>
                  <a:srgbClr val="A4B4CA"/>
                </a:solidFill>
                <a:latin typeface="Aptos"/>
              </a:defRPr>
            </a:pPr>
            <a:r>
              <a:t>Sum values meeting a condition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75319" y="3657600"/>
            <a:ext cx="3383280" cy="1143000"/>
          </a:xfrm>
          <a:prstGeom prst="roundRect">
            <a:avLst/>
          </a:prstGeom>
          <a:solidFill>
            <a:srgbClr val="1A2D4C"/>
          </a:solidFill>
          <a:ln>
            <a:solidFill>
              <a:srgbClr val="2B42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458199" y="3822191"/>
            <a:ext cx="3017520" cy="25603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900" b="1">
                <a:solidFill>
                  <a:srgbClr val="A4B4CA"/>
                </a:solidFill>
                <a:latin typeface="Aptos"/>
              </a:defRPr>
            </a:pPr>
            <a:r>
              <a:t>CORREL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58199" y="4142232"/>
            <a:ext cx="3017520" cy="53035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2500" b="1">
                <a:solidFill>
                  <a:srgbClr val="4D8EFF"/>
                </a:solidFill>
                <a:latin typeface="Aptos"/>
              </a:defRPr>
            </a:pPr>
            <a:r>
              <a:t>CORREL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58199" y="4510745"/>
            <a:ext cx="3017520" cy="2286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900" b="0">
                <a:solidFill>
                  <a:srgbClr val="A4B4CA"/>
                </a:solidFill>
                <a:latin typeface="Aptos"/>
              </a:defRPr>
            </a:pPr>
            <a:r>
              <a:t>Linear relationship between two variables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11064240" y="6492240"/>
            <a:ext cx="502920" cy="175433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r">
              <a:defRPr sz="900" b="1">
                <a:solidFill>
                  <a:srgbClr val="00CCB8"/>
                </a:solidFill>
                <a:latin typeface="Aptos"/>
              </a:defRPr>
            </a:pPr>
            <a:r>
              <a:rPr lang="en-IN" dirty="0" smtClean="0">
                <a:solidFill>
                  <a:schemeClr val="bg1"/>
                </a:solidFill>
              </a:rPr>
              <a:t>12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42900" y="129219"/>
            <a:ext cx="10972800" cy="190821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000" b="1">
                <a:solidFill>
                  <a:srgbClr val="00CCB8"/>
                </a:solidFill>
                <a:latin typeface="Aptos"/>
              </a:defRPr>
            </a:pPr>
            <a:r>
              <a:rPr dirty="0" smtClean="0">
                <a:solidFill>
                  <a:srgbClr val="002060"/>
                </a:solidFill>
              </a:rPr>
              <a:t>1</a:t>
            </a:r>
            <a:r>
              <a:rPr lang="en-IN" dirty="0" smtClean="0">
                <a:solidFill>
                  <a:srgbClr val="002060"/>
                </a:solidFill>
              </a:rPr>
              <a:t>2</a:t>
            </a:r>
            <a:r>
              <a:rPr dirty="0" smtClean="0">
                <a:solidFill>
                  <a:srgbClr val="002060"/>
                </a:solidFill>
              </a:rPr>
              <a:t> •</a:t>
            </a:r>
            <a:r>
              <a:rPr lang="en-IN" dirty="0" smtClean="0">
                <a:solidFill>
                  <a:srgbClr val="002060"/>
                </a:solidFill>
              </a:rPr>
              <a:t> DASHBOARD</a:t>
            </a:r>
            <a:endParaRPr dirty="0">
              <a:solidFill>
                <a:srgbClr val="002060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42900" y="325350"/>
            <a:ext cx="10972800" cy="4678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2800" b="1">
                <a:solidFill>
                  <a:srgbClr val="F5F8FC"/>
                </a:solidFill>
                <a:latin typeface="Aptos"/>
              </a:defRPr>
            </a:pPr>
            <a:r>
              <a:rPr lang="en-IN" dirty="0" smtClean="0">
                <a:solidFill>
                  <a:srgbClr val="002060"/>
                </a:solidFill>
              </a:rPr>
              <a:t>DASBOARD AND FUNCTION</a:t>
            </a:r>
            <a:endParaRPr dirty="0">
              <a:solidFill>
                <a:srgbClr val="002060"/>
              </a:solidFill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6439" y="953729"/>
            <a:ext cx="6499123" cy="5538511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1063" y="320039"/>
            <a:ext cx="10972800" cy="20621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rPr sz="1100" b="1" dirty="0">
                <a:solidFill>
                  <a:srgbClr val="002060"/>
                </a:solidFill>
                <a:latin typeface="Aptos"/>
              </a:rPr>
              <a:t>13 • DASHBOARD OVERVIEW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92240"/>
            <a:ext cx="502920" cy="175433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r">
              <a:defRPr sz="900" b="1">
                <a:solidFill>
                  <a:srgbClr val="00CCB8"/>
                </a:solidFill>
                <a:latin typeface="Aptos"/>
              </a:defRPr>
            </a:pPr>
            <a:r>
              <a:rPr dirty="0" smtClean="0">
                <a:solidFill>
                  <a:schemeClr val="bg1"/>
                </a:solidFill>
              </a:rPr>
              <a:t>1</a:t>
            </a:r>
            <a:r>
              <a:rPr lang="en-IN" dirty="0" smtClean="0">
                <a:solidFill>
                  <a:schemeClr val="bg1"/>
                </a:solidFill>
              </a:rPr>
              <a:t>3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40080" y="754380"/>
            <a:ext cx="10972800" cy="5943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2700" b="1">
                <a:solidFill>
                  <a:srgbClr val="0B2B5B"/>
                </a:solidFill>
                <a:latin typeface="Aptos Display"/>
              </a:defRPr>
            </a:pPr>
            <a:r>
              <a:t>One View of Bike-Sharing Performance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354689"/>
            <a:ext cx="10972800" cy="438912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1200">
                <a:solidFill>
                  <a:srgbClr val="5C6C80"/>
                </a:solidFill>
                <a:latin typeface="Aptos"/>
              </a:defRPr>
            </a:pPr>
            <a:r>
              <a:t>The dashboard brings the project’s key measures and demand drivers into a single monitoring view.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148840"/>
            <a:ext cx="3520440" cy="1234440"/>
          </a:xfrm>
          <a:prstGeom prst="roundRect">
            <a:avLst/>
          </a:prstGeom>
          <a:solidFill>
            <a:srgbClr val="002060"/>
          </a:solidFill>
          <a:ln>
            <a:solidFill>
              <a:srgbClr val="DEE7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90500" tIns="152400" rIns="152400" bIns="101600" rtlCol="0" anchor="ctr"/>
          <a:lstStyle/>
          <a:p>
            <a:pPr algn="ctr">
              <a:spcAft>
                <a:spcPts val="700"/>
              </a:spcAft>
              <a:defRPr sz="1500" b="1">
                <a:solidFill>
                  <a:srgbClr val="2A64B4"/>
                </a:solidFill>
                <a:latin typeface="Aptos"/>
              </a:defRPr>
            </a:pPr>
            <a:r>
              <a:rPr dirty="0">
                <a:solidFill>
                  <a:srgbClr val="FFC000"/>
                </a:solidFill>
              </a:rPr>
              <a:t>KEY METRICS</a:t>
            </a:r>
          </a:p>
          <a:p>
            <a:pPr>
              <a:spcAft>
                <a:spcPts val="500"/>
              </a:spcAft>
              <a:defRPr sz="1100">
                <a:solidFill>
                  <a:srgbClr val="263449"/>
                </a:solidFill>
                <a:latin typeface="Aptos"/>
              </a:defRPr>
            </a:pPr>
            <a:r>
              <a:rPr dirty="0">
                <a:solidFill>
                  <a:schemeClr val="tx1"/>
                </a:solidFill>
              </a:rPr>
              <a:t>Total rentals: 58,304</a:t>
            </a:r>
          </a:p>
          <a:p>
            <a:pPr>
              <a:spcAft>
                <a:spcPts val="500"/>
              </a:spcAft>
              <a:defRPr sz="1100">
                <a:solidFill>
                  <a:srgbClr val="263449"/>
                </a:solidFill>
                <a:latin typeface="Aptos"/>
              </a:defRPr>
            </a:pPr>
            <a:r>
              <a:rPr dirty="0">
                <a:solidFill>
                  <a:schemeClr val="tx1"/>
                </a:solidFill>
              </a:rPr>
              <a:t>Registered: 53,383  •  Casual: 4,921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2148840"/>
            <a:ext cx="3520440" cy="1234440"/>
          </a:xfrm>
          <a:prstGeom prst="roundRect">
            <a:avLst/>
          </a:prstGeom>
          <a:solidFill>
            <a:srgbClr val="002060"/>
          </a:solidFill>
          <a:ln>
            <a:solidFill>
              <a:srgbClr val="DEE7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90500" tIns="152400" rIns="152400" bIns="101600" rtlCol="0" anchor="ctr"/>
          <a:lstStyle/>
          <a:p>
            <a:pPr algn="ctr">
              <a:spcAft>
                <a:spcPts val="700"/>
              </a:spcAft>
              <a:defRPr sz="1500" b="1">
                <a:solidFill>
                  <a:srgbClr val="2A64B4"/>
                </a:solidFill>
                <a:latin typeface="Aptos"/>
              </a:defRPr>
            </a:pPr>
            <a:r>
              <a:rPr dirty="0">
                <a:solidFill>
                  <a:srgbClr val="00B0F0"/>
                </a:solidFill>
              </a:rPr>
              <a:t>DEMAND BREAKDOWNS</a:t>
            </a:r>
          </a:p>
          <a:p>
            <a:pPr>
              <a:spcAft>
                <a:spcPts val="500"/>
              </a:spcAft>
              <a:defRPr sz="1100">
                <a:solidFill>
                  <a:srgbClr val="263449"/>
                </a:solidFill>
                <a:latin typeface="Aptos"/>
              </a:defRPr>
            </a:pPr>
            <a:r>
              <a:rPr dirty="0">
                <a:solidFill>
                  <a:schemeClr val="tx1"/>
                </a:solidFill>
              </a:rPr>
              <a:t>Weather and temperature views</a:t>
            </a:r>
          </a:p>
          <a:p>
            <a:pPr>
              <a:spcAft>
                <a:spcPts val="500"/>
              </a:spcAft>
              <a:defRPr sz="1100">
                <a:solidFill>
                  <a:srgbClr val="263449"/>
                </a:solidFill>
                <a:latin typeface="Aptos"/>
              </a:defRPr>
            </a:pPr>
            <a:r>
              <a:rPr dirty="0">
                <a:solidFill>
                  <a:schemeClr val="tx1"/>
                </a:solidFill>
              </a:rPr>
              <a:t>Hourly, date-based and feels-like patterns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2148840"/>
            <a:ext cx="3520440" cy="1234440"/>
          </a:xfrm>
          <a:prstGeom prst="roundRect">
            <a:avLst/>
          </a:prstGeom>
          <a:solidFill>
            <a:srgbClr val="002060"/>
          </a:solidFill>
          <a:ln>
            <a:solidFill>
              <a:srgbClr val="DEE7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90500" tIns="152400" rIns="152400" bIns="101600" rtlCol="0" anchor="ctr"/>
          <a:lstStyle/>
          <a:p>
            <a:pPr algn="ctr">
              <a:spcAft>
                <a:spcPts val="700"/>
              </a:spcAft>
              <a:defRPr sz="1500" b="1">
                <a:solidFill>
                  <a:srgbClr val="2A64B4"/>
                </a:solidFill>
                <a:latin typeface="Aptos"/>
              </a:defRPr>
            </a:pPr>
            <a:r>
              <a:rPr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INTERACTIVE FILTERS</a:t>
            </a:r>
          </a:p>
          <a:p>
            <a:pPr>
              <a:spcAft>
                <a:spcPts val="500"/>
              </a:spcAft>
              <a:defRPr sz="1100">
                <a:solidFill>
                  <a:srgbClr val="263449"/>
                </a:solidFill>
                <a:latin typeface="Aptos"/>
              </a:defRPr>
            </a:pPr>
            <a:r>
              <a:rPr dirty="0">
                <a:solidFill>
                  <a:schemeClr val="tx1"/>
                </a:solidFill>
              </a:rPr>
              <a:t>Filters help narrow the view by selected fields.</a:t>
            </a:r>
          </a:p>
          <a:p>
            <a:pPr>
              <a:spcAft>
                <a:spcPts val="500"/>
              </a:spcAft>
              <a:defRPr sz="1100">
                <a:solidFill>
                  <a:srgbClr val="263449"/>
                </a:solidFill>
                <a:latin typeface="Aptos"/>
              </a:defRPr>
            </a:pPr>
            <a:r>
              <a:rPr dirty="0">
                <a:solidFill>
                  <a:schemeClr val="tx1"/>
                </a:solidFill>
              </a:rPr>
              <a:t>Use them to compare relevant subsets.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794760"/>
            <a:ext cx="10927080" cy="1554480"/>
          </a:xfrm>
          <a:prstGeom prst="roundRect">
            <a:avLst/>
          </a:prstGeom>
          <a:solidFill>
            <a:srgbClr val="EBF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65100" rIns="203200" rtlCol="0" anchor="ctr"/>
          <a:lstStyle/>
          <a:p>
            <a:pPr>
              <a:spcAft>
                <a:spcPts val="600"/>
              </a:spcAft>
              <a:defRPr sz="1200">
                <a:solidFill>
                  <a:srgbClr val="263449"/>
                </a:solidFill>
              </a:defRPr>
            </a:pPr>
            <a:r>
              <a:rPr lang="en-US" sz="1600" b="1" dirty="0">
                <a:solidFill>
                  <a:srgbClr val="002060"/>
                </a:solidFill>
              </a:rPr>
              <a:t>HOW TO READ THE DASHBOARD</a:t>
            </a:r>
          </a:p>
          <a:p>
            <a:pPr>
              <a:spcAft>
                <a:spcPts val="600"/>
              </a:spcAft>
              <a:defRPr sz="1200">
                <a:solidFill>
                  <a:srgbClr val="263449"/>
                </a:solidFill>
              </a:defRPr>
            </a:pPr>
            <a:r>
              <a:rPr sz="1400" dirty="0" smtClean="0"/>
              <a:t>•  </a:t>
            </a:r>
            <a:r>
              <a:rPr sz="1400" dirty="0"/>
              <a:t>Start with the KPI cards to understand the overall rental volume and customer mix.</a:t>
            </a:r>
          </a:p>
          <a:p>
            <a:pPr>
              <a:spcAft>
                <a:spcPts val="600"/>
              </a:spcAft>
              <a:defRPr sz="1200">
                <a:solidFill>
                  <a:srgbClr val="263449"/>
                </a:solidFill>
              </a:defRPr>
            </a:pPr>
            <a:r>
              <a:rPr sz="1400" dirty="0"/>
              <a:t>•  Use the charts to compare demand across hour, date, weather and temperature fields.</a:t>
            </a:r>
          </a:p>
          <a:p>
            <a:pPr>
              <a:spcAft>
                <a:spcPts val="600"/>
              </a:spcAft>
              <a:defRPr sz="1200">
                <a:solidFill>
                  <a:srgbClr val="263449"/>
                </a:solidFill>
              </a:defRPr>
            </a:pPr>
            <a:r>
              <a:rPr sz="1400" dirty="0"/>
              <a:t>•  Forecasting and anomaly detection are supporting analysis tabs; validate their outputs before using them for decisions.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763850"/>
            <a:ext cx="10972800" cy="190821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000" b="1">
                <a:solidFill>
                  <a:srgbClr val="00CCB8"/>
                </a:solidFill>
                <a:latin typeface="Aptos"/>
              </a:defRPr>
            </a:pPr>
            <a:r>
              <a:rPr dirty="0">
                <a:solidFill>
                  <a:srgbClr val="002060"/>
                </a:solidFill>
              </a:rPr>
              <a:t>14 • FORECASTING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009722"/>
            <a:ext cx="10972800" cy="4678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2800" b="1">
                <a:solidFill>
                  <a:srgbClr val="F5F8FC"/>
                </a:solidFill>
                <a:latin typeface="Aptos"/>
              </a:defRPr>
            </a:pPr>
            <a:r>
              <a:rPr dirty="0">
                <a:solidFill>
                  <a:srgbClr val="002060"/>
                </a:solidFill>
              </a:rPr>
              <a:t>Forecasting: useful, but validate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734312"/>
            <a:ext cx="10972800" cy="4114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100" b="0">
                <a:solidFill>
                  <a:srgbClr val="A4B4CA"/>
                </a:solidFill>
                <a:latin typeface="Aptos"/>
              </a:defRPr>
            </a:pPr>
            <a:r>
              <a:rPr dirty="0"/>
              <a:t>The workbook contains a FORECASTING sheet with date and observed Count fields.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92240"/>
            <a:ext cx="502920" cy="175433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r">
              <a:defRPr sz="900" b="1">
                <a:solidFill>
                  <a:srgbClr val="00CCB8"/>
                </a:solidFill>
                <a:latin typeface="Aptos"/>
              </a:defRPr>
            </a:pPr>
            <a:r>
              <a:rPr dirty="0" smtClean="0">
                <a:solidFill>
                  <a:schemeClr val="bg1"/>
                </a:solidFill>
              </a:rPr>
              <a:t>1</a:t>
            </a:r>
            <a:r>
              <a:rPr lang="en-IN" dirty="0" smtClean="0">
                <a:solidFill>
                  <a:schemeClr val="bg1"/>
                </a:solidFill>
              </a:rPr>
              <a:t>4</a:t>
            </a:r>
            <a:endParaRPr dirty="0">
              <a:solidFill>
                <a:schemeClr val="bg1"/>
              </a:solidFill>
            </a:endParaRPr>
          </a:p>
        </p:txBody>
      </p:sp>
      <p:graphicFrame>
        <p:nvGraphicFramePr>
          <p:cNvPr id="8" name="Chart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194483"/>
              </p:ext>
            </p:extLst>
          </p:nvPr>
        </p:nvGraphicFramePr>
        <p:xfrm>
          <a:off x="777240" y="2057400"/>
          <a:ext cx="704088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9" name="Oval 8"/>
          <p:cNvSpPr/>
          <p:nvPr/>
        </p:nvSpPr>
        <p:spPr>
          <a:xfrm>
            <a:off x="8138160" y="2258568"/>
            <a:ext cx="118872" cy="118872"/>
          </a:xfrm>
          <a:prstGeom prst="ellipse">
            <a:avLst/>
          </a:prstGeom>
          <a:solidFill>
            <a:srgbClr val="00C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412480" y="2148840"/>
            <a:ext cx="2880360" cy="637097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300" b="0">
                <a:solidFill>
                  <a:srgbClr val="F5F8FC"/>
                </a:solidFill>
                <a:latin typeface="Aptos"/>
              </a:defRPr>
            </a:pPr>
            <a:r>
              <a:rPr dirty="0">
                <a:solidFill>
                  <a:schemeClr val="bg1"/>
                </a:solidFill>
              </a:rPr>
              <a:t>The forecast and confidence-bound columns appear blank in the supplied workbook.</a:t>
            </a:r>
          </a:p>
        </p:txBody>
      </p:sp>
      <p:sp>
        <p:nvSpPr>
          <p:cNvPr id="11" name="Oval 10"/>
          <p:cNvSpPr/>
          <p:nvPr/>
        </p:nvSpPr>
        <p:spPr>
          <a:xfrm>
            <a:off x="8138160" y="3127248"/>
            <a:ext cx="118872" cy="118872"/>
          </a:xfrm>
          <a:prstGeom prst="ellipse">
            <a:avLst/>
          </a:prstGeom>
          <a:solidFill>
            <a:srgbClr val="00C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412480" y="3017520"/>
            <a:ext cx="2880360" cy="637097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300" b="0">
                <a:solidFill>
                  <a:srgbClr val="F5F8FC"/>
                </a:solidFill>
                <a:latin typeface="Aptos"/>
              </a:defRPr>
            </a:pPr>
            <a:r>
              <a:rPr dirty="0">
                <a:solidFill>
                  <a:schemeClr val="bg1"/>
                </a:solidFill>
              </a:rPr>
              <a:t>Treat this tab as a setup / placeholder rather than a validated predictive result.</a:t>
            </a:r>
          </a:p>
        </p:txBody>
      </p:sp>
      <p:sp>
        <p:nvSpPr>
          <p:cNvPr id="13" name="Oval 12"/>
          <p:cNvSpPr/>
          <p:nvPr/>
        </p:nvSpPr>
        <p:spPr>
          <a:xfrm>
            <a:off x="8138160" y="3995928"/>
            <a:ext cx="118872" cy="118872"/>
          </a:xfrm>
          <a:prstGeom prst="ellipse">
            <a:avLst/>
          </a:prstGeom>
          <a:solidFill>
            <a:srgbClr val="00C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412480" y="3886200"/>
            <a:ext cx="2880360" cy="637097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300" b="0">
                <a:solidFill>
                  <a:srgbClr val="F5F8FC"/>
                </a:solidFill>
                <a:latin typeface="Aptos"/>
              </a:defRPr>
            </a:pPr>
            <a:r>
              <a:rPr dirty="0">
                <a:solidFill>
                  <a:schemeClr val="bg1"/>
                </a:solidFill>
              </a:rPr>
              <a:t>Next step: fit a time-series model, reserve a test period and report forecast error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94923" y="164090"/>
            <a:ext cx="10972800" cy="190821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000" b="1">
                <a:solidFill>
                  <a:srgbClr val="00CCB8"/>
                </a:solidFill>
                <a:latin typeface="Aptos"/>
              </a:defRPr>
            </a:pPr>
            <a:r>
              <a:rPr dirty="0">
                <a:solidFill>
                  <a:srgbClr val="002060"/>
                </a:solidFill>
              </a:rPr>
              <a:t>15 • ANOMALY DETECTION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94923" y="429630"/>
            <a:ext cx="10972800" cy="4678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2800" b="1">
                <a:solidFill>
                  <a:srgbClr val="F5F8FC"/>
                </a:solidFill>
                <a:latin typeface="Aptos"/>
              </a:defRPr>
            </a:pPr>
            <a:r>
              <a:rPr dirty="0">
                <a:solidFill>
                  <a:srgbClr val="002060"/>
                </a:solidFill>
              </a:rPr>
              <a:t>Flag unusual demand for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4923" y="893067"/>
            <a:ext cx="10972800" cy="4114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100" b="0">
                <a:solidFill>
                  <a:srgbClr val="A4B4CA"/>
                </a:solidFill>
                <a:latin typeface="Aptos"/>
              </a:defRPr>
            </a:pPr>
            <a:r>
              <a:rPr dirty="0"/>
              <a:t>The anomaly sheet includes a status field and a Z-score example.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92240"/>
            <a:ext cx="502920" cy="175433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r">
              <a:defRPr sz="900" b="1">
                <a:solidFill>
                  <a:srgbClr val="00CCB8"/>
                </a:solidFill>
                <a:latin typeface="Aptos"/>
              </a:defRPr>
            </a:pPr>
            <a:r>
              <a:rPr lang="en-IN" dirty="0" smtClean="0">
                <a:solidFill>
                  <a:schemeClr val="bg1"/>
                </a:solidFill>
              </a:rPr>
              <a:t>15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294923" y="1223042"/>
            <a:ext cx="2834640" cy="1325880"/>
          </a:xfrm>
          <a:prstGeom prst="roundRect">
            <a:avLst/>
          </a:prstGeom>
          <a:solidFill>
            <a:srgbClr val="1A2D4C"/>
          </a:solidFill>
          <a:ln>
            <a:solidFill>
              <a:srgbClr val="2B42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77803" y="1327353"/>
            <a:ext cx="2468880" cy="25603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900" b="1">
                <a:solidFill>
                  <a:srgbClr val="A4B4CA"/>
                </a:solidFill>
                <a:latin typeface="Aptos"/>
              </a:defRPr>
            </a:pPr>
            <a:r>
              <a:t>NORMAL FLAGGED ROWS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781" y="1662141"/>
            <a:ext cx="2468880" cy="53035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2500" b="1">
                <a:solidFill>
                  <a:srgbClr val="00CCB8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6597" y="2234181"/>
            <a:ext cx="2468880" cy="2286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900" b="0">
                <a:solidFill>
                  <a:srgbClr val="A4B4CA"/>
                </a:solidFill>
                <a:latin typeface="Aptos"/>
              </a:defRPr>
            </a:pPr>
            <a:r>
              <a:rPr dirty="0"/>
              <a:t>Status values present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51686" y="1226484"/>
            <a:ext cx="2834640" cy="1325880"/>
          </a:xfrm>
          <a:prstGeom prst="roundRect">
            <a:avLst/>
          </a:prstGeom>
          <a:solidFill>
            <a:srgbClr val="1A2D4C"/>
          </a:solidFill>
          <a:ln>
            <a:solidFill>
              <a:srgbClr val="2B42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597634" y="1354663"/>
            <a:ext cx="2468880" cy="25603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900" b="1">
                <a:solidFill>
                  <a:srgbClr val="A4B4CA"/>
                </a:solidFill>
                <a:latin typeface="Aptos"/>
              </a:defRPr>
            </a:pPr>
            <a:r>
              <a:t>ANOMALY FLAGGED ROWS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42639" y="1620806"/>
            <a:ext cx="2468880" cy="53035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2500" b="1">
                <a:solidFill>
                  <a:srgbClr val="FF6987"/>
                </a:solidFill>
                <a:latin typeface="Aptos"/>
              </a:defRPr>
            </a:pPr>
            <a:r>
              <a:t>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34566" y="2234181"/>
            <a:ext cx="2468880" cy="2286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900" b="0">
                <a:solidFill>
                  <a:srgbClr val="A4B4CA"/>
                </a:solidFill>
                <a:latin typeface="Aptos"/>
              </a:defRPr>
            </a:pPr>
            <a:r>
              <a:rPr dirty="0"/>
              <a:t>Status values present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08449" y="1172793"/>
            <a:ext cx="2782242" cy="1325880"/>
          </a:xfrm>
          <a:prstGeom prst="roundRect">
            <a:avLst/>
          </a:prstGeom>
          <a:solidFill>
            <a:srgbClr val="1A2D4C"/>
          </a:solidFill>
          <a:ln>
            <a:solidFill>
              <a:srgbClr val="2B42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791329" y="1318419"/>
            <a:ext cx="2468880" cy="25603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900" b="1">
                <a:solidFill>
                  <a:srgbClr val="A4B4CA"/>
                </a:solidFill>
                <a:latin typeface="Aptos"/>
              </a:defRPr>
            </a:pPr>
            <a:r>
              <a:t>EXAMPLE Z-SCORE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91329" y="1602962"/>
            <a:ext cx="2468880" cy="53035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2500" b="1">
                <a:solidFill>
                  <a:srgbClr val="FFBE5C"/>
                </a:solidFill>
                <a:latin typeface="Aptos"/>
              </a:defRPr>
            </a:pPr>
            <a:r>
              <a:t>-0.83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21424" y="2233641"/>
            <a:ext cx="2468880" cy="2286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900" b="0">
                <a:solidFill>
                  <a:srgbClr val="A4B4CA"/>
                </a:solidFill>
                <a:latin typeface="Aptos"/>
              </a:defRPr>
            </a:pPr>
            <a:r>
              <a:t>First populated row</a:t>
            </a:r>
          </a:p>
        </p:txBody>
      </p:sp>
      <p:sp>
        <p:nvSpPr>
          <p:cNvPr id="20" name="Oval 19"/>
          <p:cNvSpPr/>
          <p:nvPr/>
        </p:nvSpPr>
        <p:spPr>
          <a:xfrm>
            <a:off x="6682004" y="3285879"/>
            <a:ext cx="118872" cy="118872"/>
          </a:xfrm>
          <a:prstGeom prst="ellipse">
            <a:avLst/>
          </a:prstGeom>
          <a:solidFill>
            <a:srgbClr val="00C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858000" y="3234230"/>
            <a:ext cx="5563456" cy="4678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400" b="0">
                <a:solidFill>
                  <a:srgbClr val="F5F8FC"/>
                </a:solidFill>
                <a:latin typeface="Aptos"/>
              </a:defRPr>
            </a:pPr>
            <a:r>
              <a:rPr dirty="0">
                <a:solidFill>
                  <a:schemeClr val="bg1"/>
                </a:solidFill>
              </a:rPr>
              <a:t>Use Z-scores or rolling baselines to identify unusually high / low counts.</a:t>
            </a:r>
          </a:p>
        </p:txBody>
      </p:sp>
      <p:sp>
        <p:nvSpPr>
          <p:cNvPr id="22" name="Oval 21"/>
          <p:cNvSpPr/>
          <p:nvPr/>
        </p:nvSpPr>
        <p:spPr>
          <a:xfrm>
            <a:off x="6672457" y="4321854"/>
            <a:ext cx="118872" cy="118872"/>
          </a:xfrm>
          <a:prstGeom prst="ellipse">
            <a:avLst/>
          </a:prstGeom>
          <a:solidFill>
            <a:srgbClr val="00C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858000" y="4255102"/>
            <a:ext cx="9738360" cy="252377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400" b="0">
                <a:solidFill>
                  <a:srgbClr val="F5F8FC"/>
                </a:solidFill>
                <a:latin typeface="Aptos"/>
              </a:defRPr>
            </a:pPr>
            <a:r>
              <a:rPr dirty="0">
                <a:solidFill>
                  <a:schemeClr val="bg1"/>
                </a:solidFill>
              </a:rPr>
              <a:t>Verify flagged points against weather, holidays and data quality.</a:t>
            </a:r>
          </a:p>
        </p:txBody>
      </p:sp>
      <p:sp>
        <p:nvSpPr>
          <p:cNvPr id="24" name="Oval 23"/>
          <p:cNvSpPr/>
          <p:nvPr/>
        </p:nvSpPr>
        <p:spPr>
          <a:xfrm>
            <a:off x="6699505" y="5178234"/>
            <a:ext cx="118872" cy="118872"/>
          </a:xfrm>
          <a:prstGeom prst="ellipse">
            <a:avLst/>
          </a:prstGeom>
          <a:solidFill>
            <a:srgbClr val="00C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858000" y="5121294"/>
            <a:ext cx="5162764" cy="4678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400" b="0">
                <a:solidFill>
                  <a:srgbClr val="F5F8FC"/>
                </a:solidFill>
                <a:latin typeface="Aptos"/>
              </a:defRPr>
            </a:pPr>
            <a:r>
              <a:rPr dirty="0">
                <a:solidFill>
                  <a:schemeClr val="bg1"/>
                </a:solidFill>
              </a:rPr>
              <a:t>A robust rule should define the threshold and handle time-of-day differences.</a:t>
            </a:r>
          </a:p>
        </p:txBody>
      </p:sp>
      <p:graphicFrame>
        <p:nvGraphicFramePr>
          <p:cNvPr id="26" name="Chart 2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93110672"/>
              </p:ext>
            </p:extLst>
          </p:nvPr>
        </p:nvGraphicFramePr>
        <p:xfrm>
          <a:off x="294923" y="2835618"/>
          <a:ext cx="6105877" cy="365662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68680" y="1093155"/>
            <a:ext cx="10972800" cy="190821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000" b="1">
                <a:solidFill>
                  <a:srgbClr val="00CCB8"/>
                </a:solidFill>
                <a:latin typeface="Aptos"/>
              </a:defRPr>
            </a:pPr>
            <a:r>
              <a:rPr>
                <a:solidFill>
                  <a:srgbClr val="002060"/>
                </a:solidFill>
              </a:rPr>
              <a:t>16 • CLOSING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418582"/>
            <a:ext cx="10972800" cy="4678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2800" b="1">
                <a:solidFill>
                  <a:srgbClr val="F5F8FC"/>
                </a:solidFill>
                <a:latin typeface="Aptos"/>
              </a:defRPr>
            </a:pPr>
            <a:r>
              <a:rPr dirty="0">
                <a:solidFill>
                  <a:srgbClr val="002060"/>
                </a:solidFill>
              </a:rPr>
              <a:t>Key takeaways &amp; next steps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92240"/>
            <a:ext cx="502920" cy="175433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r">
              <a:defRPr sz="900" b="1">
                <a:solidFill>
                  <a:srgbClr val="00CCB8"/>
                </a:solidFill>
                <a:latin typeface="Aptos"/>
              </a:defRPr>
            </a:pPr>
            <a:r>
              <a:rPr dirty="0" smtClean="0">
                <a:solidFill>
                  <a:schemeClr val="bg1"/>
                </a:solidFill>
              </a:rPr>
              <a:t>1</a:t>
            </a:r>
            <a:r>
              <a:rPr lang="en-IN" dirty="0" smtClean="0">
                <a:solidFill>
                  <a:schemeClr val="bg1"/>
                </a:solidFill>
              </a:rPr>
              <a:t>6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8" name="Oval 7"/>
          <p:cNvSpPr/>
          <p:nvPr/>
        </p:nvSpPr>
        <p:spPr>
          <a:xfrm>
            <a:off x="868680" y="2258568"/>
            <a:ext cx="118872" cy="118872"/>
          </a:xfrm>
          <a:prstGeom prst="ellipse">
            <a:avLst/>
          </a:prstGeom>
          <a:solidFill>
            <a:srgbClr val="00C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43000" y="2148840"/>
            <a:ext cx="10104120" cy="28315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600" b="0">
                <a:solidFill>
                  <a:srgbClr val="F5F8FC"/>
                </a:solidFill>
                <a:latin typeface="Aptos"/>
              </a:defRPr>
            </a:pPr>
            <a:r>
              <a:rPr dirty="0">
                <a:solidFill>
                  <a:schemeClr val="bg1"/>
                </a:solidFill>
              </a:rPr>
              <a:t>Customer mix: registered riders are the largest source of rentals.</a:t>
            </a:r>
          </a:p>
        </p:txBody>
      </p:sp>
      <p:sp>
        <p:nvSpPr>
          <p:cNvPr id="10" name="Oval 9"/>
          <p:cNvSpPr/>
          <p:nvPr/>
        </p:nvSpPr>
        <p:spPr>
          <a:xfrm>
            <a:off x="868680" y="2971800"/>
            <a:ext cx="118872" cy="118872"/>
          </a:xfrm>
          <a:prstGeom prst="ellipse">
            <a:avLst/>
          </a:prstGeom>
          <a:solidFill>
            <a:srgbClr val="00C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43000" y="2862072"/>
            <a:ext cx="10104120" cy="28315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600" b="0">
                <a:solidFill>
                  <a:srgbClr val="F5F8FC"/>
                </a:solidFill>
                <a:latin typeface="Aptos"/>
              </a:defRPr>
            </a:pPr>
            <a:r>
              <a:rPr dirty="0">
                <a:solidFill>
                  <a:schemeClr val="bg1"/>
                </a:solidFill>
              </a:rPr>
              <a:t>Time matters: hourly and daily aggregation is essential for operational planning.</a:t>
            </a:r>
          </a:p>
        </p:txBody>
      </p:sp>
      <p:sp>
        <p:nvSpPr>
          <p:cNvPr id="12" name="Oval 11"/>
          <p:cNvSpPr/>
          <p:nvPr/>
        </p:nvSpPr>
        <p:spPr>
          <a:xfrm>
            <a:off x="868680" y="3685032"/>
            <a:ext cx="118872" cy="118872"/>
          </a:xfrm>
          <a:prstGeom prst="ellipse">
            <a:avLst/>
          </a:prstGeom>
          <a:solidFill>
            <a:srgbClr val="00C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43000" y="3575304"/>
            <a:ext cx="10104120" cy="28315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600" b="0">
                <a:solidFill>
                  <a:srgbClr val="F5F8FC"/>
                </a:solidFill>
                <a:latin typeface="Aptos"/>
              </a:defRPr>
            </a:pPr>
            <a:r>
              <a:rPr dirty="0">
                <a:solidFill>
                  <a:schemeClr val="bg1"/>
                </a:solidFill>
              </a:rPr>
              <a:t>Context matters: evaluate weather and temperature alongside time patterns.</a:t>
            </a:r>
          </a:p>
        </p:txBody>
      </p:sp>
      <p:sp>
        <p:nvSpPr>
          <p:cNvPr id="14" name="Oval 13"/>
          <p:cNvSpPr/>
          <p:nvPr/>
        </p:nvSpPr>
        <p:spPr>
          <a:xfrm>
            <a:off x="868680" y="4398264"/>
            <a:ext cx="118872" cy="118872"/>
          </a:xfrm>
          <a:prstGeom prst="ellipse">
            <a:avLst/>
          </a:prstGeom>
          <a:solidFill>
            <a:srgbClr val="00C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143000" y="4288536"/>
            <a:ext cx="10104120" cy="28315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600" b="0">
                <a:solidFill>
                  <a:srgbClr val="F5F8FC"/>
                </a:solidFill>
                <a:latin typeface="Aptos"/>
              </a:defRPr>
            </a:pPr>
            <a:r>
              <a:rPr>
                <a:solidFill>
                  <a:schemeClr val="bg1"/>
                </a:solidFill>
              </a:rPr>
              <a:t>Strengthen the workbook: verify formulas, fill forecast outputs and document anomaly thresholds.</a:t>
            </a:r>
          </a:p>
        </p:txBody>
      </p:sp>
      <p:sp>
        <p:nvSpPr>
          <p:cNvPr id="16" name="Oval 15"/>
          <p:cNvSpPr/>
          <p:nvPr/>
        </p:nvSpPr>
        <p:spPr>
          <a:xfrm>
            <a:off x="868680" y="5111496"/>
            <a:ext cx="118872" cy="118872"/>
          </a:xfrm>
          <a:prstGeom prst="ellipse">
            <a:avLst/>
          </a:prstGeom>
          <a:solidFill>
            <a:srgbClr val="00C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143000" y="5001768"/>
            <a:ext cx="10104120" cy="28315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defRPr sz="1600" b="0">
                <a:solidFill>
                  <a:srgbClr val="F5F8FC"/>
                </a:solidFill>
                <a:latin typeface="Aptos"/>
              </a:defRPr>
            </a:pPr>
            <a:r>
              <a:rPr>
                <a:solidFill>
                  <a:schemeClr val="bg1"/>
                </a:solidFill>
              </a:rPr>
              <a:t>Before final reporting, reconcile summary KPIs with the exact analysis range.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942735" y="2399071"/>
            <a:ext cx="678425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6000" b="1" dirty="0">
                <a:solidFill>
                  <a:srgbClr val="002060"/>
                </a:solidFill>
              </a:rPr>
              <a:t>THANK YOU</a:t>
            </a:r>
            <a:endParaRPr lang="en-IN" sz="6000" b="1" dirty="0">
              <a:ln>
                <a:solidFill>
                  <a:sysClr val="windowText" lastClr="000000"/>
                </a:solidFill>
              </a:ln>
              <a:solidFill>
                <a:srgbClr val="002060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380271" y="5477359"/>
            <a:ext cx="65581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>
                <a:solidFill>
                  <a:srgbClr val="002060"/>
                </a:solidFill>
              </a:rPr>
              <a:t>Thank you for your time and attention.</a:t>
            </a:r>
            <a:endParaRPr lang="en-IN" sz="1600" dirty="0">
              <a:solidFill>
                <a:srgbClr val="00206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611329" y="5815913"/>
            <a:ext cx="3048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>
                <a:solidFill>
                  <a:srgbClr val="002060"/>
                </a:solidFill>
              </a:rPr>
              <a:t>Data Analytics | Excel Project</a:t>
            </a:r>
            <a:endParaRPr lang="en-IN" dirty="0">
              <a:solidFill>
                <a:srgbClr val="002060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454580" y="6463422"/>
            <a:ext cx="49161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900" b="1" dirty="0" smtClean="0">
                <a:solidFill>
                  <a:schemeClr val="bg1"/>
                </a:solidFill>
              </a:rPr>
              <a:t>17</a:t>
            </a:r>
            <a:endParaRPr lang="en-IN" sz="9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1627231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TM03457452[[fn=Celestial]]</Template>
  <TotalTime>364</TotalTime>
  <Words>1119</Words>
  <Application>Microsoft Office PowerPoint</Application>
  <PresentationFormat>Widescreen</PresentationFormat>
  <Paragraphs>217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Aptos</vt:lpstr>
      <vt:lpstr>Aptos Display</vt:lpstr>
      <vt:lpstr>Arial</vt:lpstr>
      <vt:lpstr>Calibri</vt:lpstr>
      <vt:lpstr>Calibri Light</vt:lpstr>
      <vt:lpstr>Celestial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VisHvA.</dc:creator>
  <cp:keywords/>
  <dc:description>generated using python-pptx</dc:description>
  <cp:lastModifiedBy>DELL</cp:lastModifiedBy>
  <cp:revision>24</cp:revision>
  <dcterms:created xsi:type="dcterms:W3CDTF">2013-01-27T09:14:16Z</dcterms:created>
  <dcterms:modified xsi:type="dcterms:W3CDTF">2026-10-10T14:35:56Z</dcterms:modified>
  <cp:category/>
</cp:coreProperties>
</file>